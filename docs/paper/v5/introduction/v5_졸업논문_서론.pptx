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9168E-E051-40CB-A97B-36050D6547F3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EDA479-B150-48F2-A968-19E7760D3A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725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연구 가제다</a:t>
            </a:r>
            <a:r>
              <a:rPr lang="en-US" altLang="ko-KR"/>
              <a:t>. </a:t>
            </a:r>
            <a:r>
              <a:rPr lang="ko-KR" altLang="en-US"/>
              <a:t>이번 발표는 서론의 이야기 흐름을 다룬다</a:t>
            </a:r>
            <a:r>
              <a:rPr lang="en-US" altLang="ko-KR"/>
              <a:t>. PPO</a:t>
            </a:r>
            <a:r>
              <a:rPr lang="ko-KR" altLang="en-US"/>
              <a:t>는 실행 경험을 모아 정책을 조금씩 갱신하는 강화학습 방법이다</a:t>
            </a:r>
            <a:r>
              <a:rPr lang="en-US" altLang="ko-KR"/>
              <a:t>. </a:t>
            </a:r>
            <a:r>
              <a:rPr lang="ko-KR" altLang="en-US"/>
              <a:t>실험 결과나 비용 절감의 성공을 전제하지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145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Yen </a:t>
            </a:r>
            <a:r>
              <a:rPr lang="ko-KR" altLang="en-US"/>
              <a:t>등의 연구는 스마트항만의 자동화</a:t>
            </a:r>
            <a:r>
              <a:rPr lang="en-US" altLang="ko-KR"/>
              <a:t>·</a:t>
            </a:r>
            <a:r>
              <a:rPr lang="ko-KR" altLang="en-US"/>
              <a:t>환경</a:t>
            </a:r>
            <a:r>
              <a:rPr lang="en-US" altLang="ko-KR"/>
              <a:t>·</a:t>
            </a:r>
            <a:r>
              <a:rPr lang="ko-KR" altLang="en-US"/>
              <a:t>지능화 요소와 효율의 관계를 분석한다</a:t>
            </a:r>
            <a:r>
              <a:rPr lang="en-US" altLang="ko-KR"/>
              <a:t>. </a:t>
            </a:r>
            <a:r>
              <a:rPr lang="ko-KR" altLang="en-US"/>
              <a:t>정보 공유가 언제나 긍정적인 효과를 낸다는 결론은 아니다</a:t>
            </a:r>
            <a:r>
              <a:rPr lang="en-US" altLang="ko-KR"/>
              <a:t>. </a:t>
            </a:r>
            <a:r>
              <a:rPr lang="ko-KR" altLang="en-US"/>
              <a:t>마지막 두 문장은 그 배경에서 설정한 본 연구의 관심사이며 해당 논문의 실증 결과로 주장하지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[1] Yen, B. T. H., Huang, M. J., Lai, H. J., Cho, H. H., &amp; Huang, Y. L. (2023). How smart port design influences port efficiency: A DEA-Tobit approach. Research in Transportation Business &amp; Management, 46, 100862.</a:t>
            </a:r>
          </a:p>
          <a:p>
            <a:r>
              <a:rPr lang="en-US" altLang="ko-KR"/>
              <a:t>https://doi.org/10.1016/j.rtbm.2022.100862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https://www.sciencedirect.com/science/article/pii/S2210539522000839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스마트항만 설계 요소와 효율의 관계</a:t>
            </a:r>
            <a:r>
              <a:rPr lang="en-US" altLang="ko-KR"/>
              <a:t>. </a:t>
            </a:r>
            <a:r>
              <a:rPr lang="ko-KR" altLang="en-US"/>
              <a:t>정보기술 도입이 항상 효율을 높인다는 근거로 사용하지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295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야드는 컨테이너를 보관하는 구역이며</a:t>
            </a:r>
            <a:r>
              <a:rPr lang="en-US" altLang="ko-KR"/>
              <a:t>, </a:t>
            </a:r>
            <a:r>
              <a:rPr lang="ko-KR" altLang="en-US"/>
              <a:t>블록은 야드를 나눈 작업 단위다</a:t>
            </a:r>
            <a:r>
              <a:rPr lang="en-US" altLang="ko-KR"/>
              <a:t>. </a:t>
            </a:r>
            <a:r>
              <a:rPr lang="ko-KR" altLang="en-US"/>
              <a:t>본선은 터미널에 접안해 하역하는 선박이다</a:t>
            </a:r>
            <a:r>
              <a:rPr lang="en-US" altLang="ko-KR"/>
              <a:t>. </a:t>
            </a:r>
            <a:r>
              <a:rPr lang="ko-KR" altLang="en-US"/>
              <a:t>야드크레인은 안벽에서 배에 직접 싣고 내리는 안벽크레인과 구별한다</a:t>
            </a:r>
            <a:r>
              <a:rPr lang="en-US" altLang="ko-KR"/>
              <a:t>. </a:t>
            </a:r>
            <a:r>
              <a:rPr lang="ko-KR" altLang="en-US"/>
              <a:t>표는 </a:t>
            </a:r>
            <a:r>
              <a:rPr lang="en-US" altLang="ko-KR"/>
              <a:t>v5</a:t>
            </a:r>
            <a:r>
              <a:rPr lang="ko-KR" altLang="en-US"/>
              <a:t>가 다루는 네 화물 흐름의 설명이며 모든 실제 터미널의 장비 구성이 같다는 주장은 아니다</a:t>
            </a:r>
            <a:r>
              <a:rPr lang="en-US" altLang="ko-KR"/>
              <a:t>. </a:t>
            </a:r>
            <a:r>
              <a:rPr lang="ko-KR" altLang="en-US"/>
              <a:t>내부 근거</a:t>
            </a:r>
            <a:r>
              <a:rPr lang="en-US" altLang="ko-KR"/>
              <a:t>: src/yard_rl/v5/stage/month.py, schema/order.py, world/contract/schema.py.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457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Chen </a:t>
            </a:r>
            <a:r>
              <a:rPr lang="ko-KR" altLang="en-US"/>
              <a:t>등은 도착 시간창 조정으로 게이트 혼잡을 다룬다</a:t>
            </a:r>
            <a:r>
              <a:rPr lang="en-US" altLang="ko-KR"/>
              <a:t>. Phan</a:t>
            </a:r>
            <a:r>
              <a:rPr lang="ko-KR" altLang="en-US"/>
              <a:t>과 </a:t>
            </a:r>
            <a:r>
              <a:rPr lang="en-US" altLang="ko-KR"/>
              <a:t>Kim</a:t>
            </a:r>
            <a:r>
              <a:rPr lang="ko-KR" altLang="en-US"/>
              <a:t>은 야드의 서로 다른 작업량을 고려해 트럭 도착시각을 협의한다</a:t>
            </a:r>
            <a:r>
              <a:rPr lang="en-US" altLang="ko-KR"/>
              <a:t>. </a:t>
            </a:r>
            <a:r>
              <a:rPr lang="ko-KR" altLang="en-US"/>
              <a:t>본 연구의 재검토 대상은 이미 통지된 주문이다</a:t>
            </a:r>
            <a:r>
              <a:rPr lang="en-US" altLang="ko-KR"/>
              <a:t>. </a:t>
            </a:r>
            <a:r>
              <a:rPr lang="ko-KR" altLang="en-US"/>
              <a:t>미래에 실제로 언제 도착할지 미리 안다고 가정하지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[2] Chen, G., Govindan, K., &amp; Yang, Z. (2013). Managing truck arrivals with time windows to alleviate gate congestion at container terminals. International Journal of Production Economics, 141(1), 179–188.</a:t>
            </a:r>
          </a:p>
          <a:p>
            <a:r>
              <a:rPr lang="en-US" altLang="ko-KR"/>
              <a:t>https://doi.org/10.1016/j.ijpe.2012.03.033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https://www.sciencedirect.com/science/article/pii/S0925527312001417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시간창을 이용한 도착 분산과 게이트 혼잡 관리</a:t>
            </a:r>
            <a:r>
              <a:rPr lang="en-US" altLang="ko-KR"/>
              <a:t>. v5</a:t>
            </a:r>
            <a:r>
              <a:rPr lang="ko-KR" altLang="en-US"/>
              <a:t>의 성능이나 세부 제약의 근거는 아니다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[3] Phan, M.-H., &amp; Kim, K. H. (2015). Negotiating truck arrival times among trucking companies and a container terminal. Transportation Research Part E, 75, 132–144.</a:t>
            </a:r>
          </a:p>
          <a:p>
            <a:r>
              <a:rPr lang="en-US" altLang="ko-KR"/>
              <a:t>https://doi.org/10.1016/j.tre.2015.01.004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https://www.sciencedirect.com/science/article/pii/S1366554515000058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야드 작업량을 고려한 도착시각 협의</a:t>
            </a:r>
            <a:r>
              <a:rPr lang="en-US" altLang="ko-KR"/>
              <a:t>, </a:t>
            </a:r>
            <a:r>
              <a:rPr lang="ko-KR" altLang="en-US"/>
              <a:t>운송사 불편 비용과 트럭 대기 비용</a:t>
            </a:r>
            <a:r>
              <a:rPr lang="en-US" altLang="ko-KR"/>
              <a:t>. v5</a:t>
            </a:r>
            <a:r>
              <a:rPr lang="ko-KR" altLang="en-US"/>
              <a:t>는 이 불편 비용을 모두 구현하지 않았다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150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재배정은 주문 등록을 취소하는 결정이 아니다</a:t>
            </a:r>
            <a:r>
              <a:rPr lang="en-US" altLang="ko-KR"/>
              <a:t>. </a:t>
            </a:r>
            <a:r>
              <a:rPr lang="ko-KR" altLang="en-US"/>
              <a:t>공간 변경은 트럭 반입 주문에만 허용한다</a:t>
            </a:r>
            <a:r>
              <a:rPr lang="en-US" altLang="ko-KR"/>
              <a:t>. </a:t>
            </a:r>
            <a:r>
              <a:rPr lang="ko-KR" altLang="en-US"/>
              <a:t>반출은 지정 컨테이너의 위치를 유지한다</a:t>
            </a:r>
            <a:r>
              <a:rPr lang="en-US" altLang="ko-KR"/>
              <a:t>. </a:t>
            </a:r>
            <a:r>
              <a:rPr lang="ko-KR" altLang="en-US"/>
              <a:t>시간 이연은 기존 후보와 예약창 제약 안에서만 선택한다</a:t>
            </a:r>
            <a:r>
              <a:rPr lang="en-US" altLang="ko-KR"/>
              <a:t>. </a:t>
            </a:r>
            <a:r>
              <a:rPr lang="ko-KR" altLang="en-US"/>
              <a:t>사전 재취급은 앞으로 꺼낼 컨테이너를 위해 방해 상자를 미리 옮기는 작업이다</a:t>
            </a:r>
            <a:r>
              <a:rPr lang="en-US" altLang="ko-KR"/>
              <a:t>. </a:t>
            </a:r>
            <a:r>
              <a:rPr lang="ko-KR" altLang="en-US"/>
              <a:t>내부 근거</a:t>
            </a:r>
            <a:r>
              <a:rPr lang="en-US" altLang="ko-KR"/>
              <a:t>: schema/order.py, actors/seller.py, ppo/crane.py.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54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페이지는 상호작용을 설명하기 위한 개념 예시이며 특정 실행에서 관측한 결과가 아니다</a:t>
            </a:r>
            <a:r>
              <a:rPr lang="en-US" altLang="ko-KR"/>
              <a:t>. Duan </a:t>
            </a:r>
            <a:r>
              <a:rPr lang="ko-KR" altLang="en-US"/>
              <a:t>등의 연구도 예약과 야드 처리의 연계를 다루지만</a:t>
            </a:r>
            <a:r>
              <a:rPr lang="en-US" altLang="ko-KR"/>
              <a:t>, </a:t>
            </a:r>
            <a:r>
              <a:rPr lang="ko-KR" altLang="en-US"/>
              <a:t>해당 연구의 컨테이너 재취급과 본 연구의 반입 목적 블록 변경은 같은 행동이 아니다</a:t>
            </a:r>
            <a:r>
              <a:rPr lang="en-US" altLang="ko-KR"/>
              <a:t>. </a:t>
            </a:r>
            <a:r>
              <a:rPr lang="ko-KR" altLang="en-US"/>
              <a:t>실제 선택은 통지된 정보와 현재 상태를 사용한다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[5] Duan, S., Zheng, H.-X., &amp; Wang, Z.-Y. (2024). Integrated optimization of truck appointment quotas and container relocations for multiple blocks considering transshipment containers handling. Advanced Engineering Informatics, 62, 102668.</a:t>
            </a:r>
          </a:p>
          <a:p>
            <a:r>
              <a:rPr lang="en-US" altLang="ko-KR"/>
              <a:t>https://doi.org/10.1016/j.aei.2024.102668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https://www.sciencedirect.com/science/article/abs/pii/S1474034624003161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예약 정원</a:t>
            </a:r>
            <a:r>
              <a:rPr lang="en-US" altLang="ko-KR"/>
              <a:t>·</a:t>
            </a:r>
            <a:r>
              <a:rPr lang="ko-KR" altLang="en-US"/>
              <a:t>컨테이너 재취급</a:t>
            </a:r>
            <a:r>
              <a:rPr lang="en-US" altLang="ko-KR"/>
              <a:t>·</a:t>
            </a:r>
            <a:r>
              <a:rPr lang="ko-KR" altLang="en-US"/>
              <a:t>환적 작업과 야드크레인 스케줄링의 통합 최적화</a:t>
            </a:r>
            <a:r>
              <a:rPr lang="en-US" altLang="ko-KR"/>
              <a:t>. </a:t>
            </a:r>
            <a:r>
              <a:rPr lang="ko-KR" altLang="en-US"/>
              <a:t>여기서 </a:t>
            </a:r>
            <a:r>
              <a:rPr lang="en-US" altLang="ko-KR"/>
              <a:t>container relocation</a:t>
            </a:r>
            <a:r>
              <a:rPr lang="ko-KR" altLang="en-US"/>
              <a:t>을 </a:t>
            </a:r>
            <a:r>
              <a:rPr lang="en-US" altLang="ko-KR"/>
              <a:t>v5</a:t>
            </a:r>
            <a:r>
              <a:rPr lang="ko-KR" altLang="en-US"/>
              <a:t>의 반입 목적 블록 변경과 동일시하지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632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첫 두 문장은 선택의 잠재적 효과이며 무조건적인 인과나 성능 우위를 뜻하지 않는다</a:t>
            </a:r>
            <a:r>
              <a:rPr lang="en-US" altLang="ko-KR"/>
              <a:t>. Speer</a:t>
            </a:r>
            <a:r>
              <a:rPr lang="ko-KR" altLang="en-US"/>
              <a:t>와 </a:t>
            </a:r>
            <a:r>
              <a:rPr lang="en-US" altLang="ko-KR"/>
              <a:t>Fischer</a:t>
            </a:r>
            <a:r>
              <a:rPr lang="ko-KR" altLang="en-US"/>
              <a:t>는 크레인의 이동</a:t>
            </a:r>
            <a:r>
              <a:rPr lang="en-US" altLang="ko-KR"/>
              <a:t>·</a:t>
            </a:r>
            <a:r>
              <a:rPr lang="ko-KR" altLang="en-US"/>
              <a:t>간섭을 스케줄링에 반영하는 중요성을 다룬다</a:t>
            </a:r>
            <a:r>
              <a:rPr lang="en-US" altLang="ko-KR"/>
              <a:t>. v5</a:t>
            </a:r>
            <a:r>
              <a:rPr lang="ko-KR" altLang="en-US"/>
              <a:t>는 기존 본선 유휴 비용을 사용한다</a:t>
            </a:r>
            <a:r>
              <a:rPr lang="en-US" altLang="ko-KR"/>
              <a:t>. </a:t>
            </a:r>
            <a:r>
              <a:rPr lang="ko-KR" altLang="en-US"/>
              <a:t>마감이 임박할수록 급증하는 새로운 벌점이나 계약 위약금을 구현했다고 쓰지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[4] Speer, U., &amp; Fischer, K. (2017). Scheduling of Different Automated Yard Crane Systems at Container Terminals. Transportation Science, 51(1), 305–324.</a:t>
            </a:r>
          </a:p>
          <a:p>
            <a:r>
              <a:rPr lang="en-US" altLang="ko-KR"/>
              <a:t>https://doi.org/10.1287/trsc.2016.0687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https://pubsonline.informs.org/doi/abs/10.1287/trsc.2016.0687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야드크레인 이동</a:t>
            </a:r>
            <a:r>
              <a:rPr lang="en-US" altLang="ko-KR"/>
              <a:t>·</a:t>
            </a:r>
            <a:r>
              <a:rPr lang="ko-KR" altLang="en-US"/>
              <a:t>간섭과 작업 지연을 고려하는 스케줄링</a:t>
            </a:r>
            <a:r>
              <a:rPr lang="en-US" altLang="ko-KR"/>
              <a:t>. </a:t>
            </a:r>
            <a:r>
              <a:rPr lang="ko-KR" altLang="en-US"/>
              <a:t>온라인 출판 </a:t>
            </a:r>
            <a:r>
              <a:rPr lang="en-US" altLang="ko-KR"/>
              <a:t>2016, </a:t>
            </a:r>
            <a:r>
              <a:rPr lang="ko-KR" altLang="en-US"/>
              <a:t>권호 연도 </a:t>
            </a:r>
            <a:r>
              <a:rPr lang="en-US" altLang="ko-KR"/>
              <a:t>2017.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249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표는 서론에서 연구 위치를 설명하는 개괄이다</a:t>
            </a:r>
            <a:r>
              <a:rPr lang="en-US" altLang="ko-KR"/>
              <a:t>. </a:t>
            </a:r>
            <a:r>
              <a:rPr lang="ko-KR" altLang="en-US"/>
              <a:t>포괄적인 체계적 문헌조사나 해당 연구에 다른 요소가 없다는 판정은 아니다</a:t>
            </a:r>
            <a:r>
              <a:rPr lang="en-US" altLang="ko-KR"/>
              <a:t>. Wang </a:t>
            </a:r>
            <a:r>
              <a:rPr lang="ko-KR" altLang="en-US"/>
              <a:t>등은 크레인 자체의 블록 간 재배치를 다룬다</a:t>
            </a:r>
            <a:r>
              <a:rPr lang="en-US" altLang="ko-KR"/>
              <a:t>. v5</a:t>
            </a:r>
            <a:r>
              <a:rPr lang="ko-KR" altLang="en-US"/>
              <a:t>는 반입 주문의 목적 블록</a:t>
            </a:r>
            <a:r>
              <a:rPr lang="en-US" altLang="ko-KR"/>
              <a:t>·</a:t>
            </a:r>
            <a:r>
              <a:rPr lang="ko-KR" altLang="en-US"/>
              <a:t>예약시각과 블록 내부 크레인 작업 선택에 초점을 두므로 두 연구의 배정 대상을 구별한다</a:t>
            </a:r>
            <a:r>
              <a:rPr lang="en-US" altLang="ko-KR"/>
              <a:t>. </a:t>
            </a:r>
            <a:r>
              <a:rPr lang="ko-KR" altLang="en-US"/>
              <a:t>각 논문의 전체 제목과 링크는 참고문헌 페이지에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[2] Chen, G., Govindan, K., &amp; Yang, Z. (2013). Managing truck arrivals with time windows to alleviate gate congestion at container terminals. International Journal of Production Economics, 141(1), 179–188.</a:t>
            </a:r>
          </a:p>
          <a:p>
            <a:r>
              <a:rPr lang="en-US" altLang="ko-KR"/>
              <a:t>https://doi.org/10.1016/j.ijpe.2012.03.033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https://www.sciencedirect.com/science/article/pii/S0925527312001417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시간창을 이용한 도착 분산과 게이트 혼잡 관리</a:t>
            </a:r>
            <a:r>
              <a:rPr lang="en-US" altLang="ko-KR"/>
              <a:t>. v5</a:t>
            </a:r>
            <a:r>
              <a:rPr lang="ko-KR" altLang="en-US"/>
              <a:t>의 성능이나 세부 제약의 근거는 아니다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[3] Phan, M.-H., &amp; Kim, K. H. (2015). Negotiating truck arrival times among trucking companies and a container terminal. Transportation Research Part E, 75, 132–144.</a:t>
            </a:r>
          </a:p>
          <a:p>
            <a:r>
              <a:rPr lang="en-US" altLang="ko-KR"/>
              <a:t>https://doi.org/10.1016/j.tre.2015.01.004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https://www.sciencedirect.com/science/article/pii/S1366554515000058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야드 작업량을 고려한 도착시각 협의</a:t>
            </a:r>
            <a:r>
              <a:rPr lang="en-US" altLang="ko-KR"/>
              <a:t>, </a:t>
            </a:r>
            <a:r>
              <a:rPr lang="ko-KR" altLang="en-US"/>
              <a:t>운송사 불편 비용과 트럭 대기 비용</a:t>
            </a:r>
            <a:r>
              <a:rPr lang="en-US" altLang="ko-KR"/>
              <a:t>. v5</a:t>
            </a:r>
            <a:r>
              <a:rPr lang="ko-KR" altLang="en-US"/>
              <a:t>는 이 불편 비용을 모두 구현하지 않았다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[4] Speer, U., &amp; Fischer, K. (2017). Scheduling of Different Automated Yard Crane Systems at Container Terminals. Transportation Science, 51(1), 305–324.</a:t>
            </a:r>
          </a:p>
          <a:p>
            <a:r>
              <a:rPr lang="en-US" altLang="ko-KR"/>
              <a:t>https://doi.org/10.1287/trsc.2016.0687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https://pubsonline.informs.org/doi/abs/10.1287/trsc.2016.0687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야드크레인 이동</a:t>
            </a:r>
            <a:r>
              <a:rPr lang="en-US" altLang="ko-KR"/>
              <a:t>·</a:t>
            </a:r>
            <a:r>
              <a:rPr lang="ko-KR" altLang="en-US"/>
              <a:t>간섭과 작업 지연을 고려하는 스케줄링</a:t>
            </a:r>
            <a:r>
              <a:rPr lang="en-US" altLang="ko-KR"/>
              <a:t>. </a:t>
            </a:r>
            <a:r>
              <a:rPr lang="ko-KR" altLang="en-US"/>
              <a:t>온라인 출판 </a:t>
            </a:r>
            <a:r>
              <a:rPr lang="en-US" altLang="ko-KR"/>
              <a:t>2016, </a:t>
            </a:r>
            <a:r>
              <a:rPr lang="ko-KR" altLang="en-US"/>
              <a:t>권호 연도 </a:t>
            </a:r>
            <a:r>
              <a:rPr lang="en-US" altLang="ko-KR"/>
              <a:t>2017.</a:t>
            </a:r>
          </a:p>
          <a:p>
            <a:endParaRPr lang="en-US" altLang="ko-KR"/>
          </a:p>
          <a:p>
            <a:r>
              <a:rPr lang="en-US" altLang="ko-KR"/>
              <a:t>[5] Duan, S., Zheng, H.-X., &amp; Wang, Z.-Y. (2024). Integrated optimization of truck appointment quotas and container relocations for multiple blocks considering transshipment containers handling. Advanced Engineering Informatics, 62, 102668.</a:t>
            </a:r>
          </a:p>
          <a:p>
            <a:r>
              <a:rPr lang="en-US" altLang="ko-KR"/>
              <a:t>https://doi.org/10.1016/j.aei.2024.102668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https://www.sciencedirect.com/science/article/abs/pii/S1474034624003161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예약 정원</a:t>
            </a:r>
            <a:r>
              <a:rPr lang="en-US" altLang="ko-KR"/>
              <a:t>·</a:t>
            </a:r>
            <a:r>
              <a:rPr lang="ko-KR" altLang="en-US"/>
              <a:t>컨테이너 재취급</a:t>
            </a:r>
            <a:r>
              <a:rPr lang="en-US" altLang="ko-KR"/>
              <a:t>·</a:t>
            </a:r>
            <a:r>
              <a:rPr lang="ko-KR" altLang="en-US"/>
              <a:t>환적 작업과 야드크레인 스케줄링의 통합 최적화</a:t>
            </a:r>
            <a:r>
              <a:rPr lang="en-US" altLang="ko-KR"/>
              <a:t>. </a:t>
            </a:r>
            <a:r>
              <a:rPr lang="ko-KR" altLang="en-US"/>
              <a:t>여기서 </a:t>
            </a:r>
            <a:r>
              <a:rPr lang="en-US" altLang="ko-KR"/>
              <a:t>container relocation</a:t>
            </a:r>
            <a:r>
              <a:rPr lang="ko-KR" altLang="en-US"/>
              <a:t>을 </a:t>
            </a:r>
            <a:r>
              <a:rPr lang="en-US" altLang="ko-KR"/>
              <a:t>v5</a:t>
            </a:r>
            <a:r>
              <a:rPr lang="ko-KR" altLang="en-US"/>
              <a:t>의 반입 목적 블록 변경과 동일시하지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[6] Wang, W., Liu, H., Peng, Y., Cao, Z., Yu, P., &amp; Lu, Z. (2026). Yard crane real-time scheduling among multi-block at terminal: A reinforcement learning based proximal policy optimization approach. Transportation Research Part E, 207, 104635.</a:t>
            </a:r>
          </a:p>
          <a:p>
            <a:r>
              <a:rPr lang="en-US" altLang="ko-KR"/>
              <a:t>https://doi.org/10.1016/j.tre.2025.104635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https://www.sciencedirect.com/science/article/abs/pii/S136655452500657X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다중 블록 크레인 재배치에 </a:t>
            </a:r>
            <a:r>
              <a:rPr lang="en-US" altLang="ko-KR"/>
              <a:t>PPO</a:t>
            </a:r>
            <a:r>
              <a:rPr lang="ko-KR" altLang="en-US"/>
              <a:t>와 공유 정책을 적용한 선행연구</a:t>
            </a:r>
            <a:r>
              <a:rPr lang="en-US" altLang="ko-KR"/>
              <a:t>. </a:t>
            </a:r>
            <a:r>
              <a:rPr lang="ko-KR" altLang="en-US"/>
              <a:t>논문의 개선율은 </a:t>
            </a:r>
            <a:r>
              <a:rPr lang="en-US" altLang="ko-KR"/>
              <a:t>v5</a:t>
            </a:r>
            <a:r>
              <a:rPr lang="ko-KR" altLang="en-US"/>
              <a:t>로 옮기지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855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연구 공백을 모든 기존 연구의 부재로 단정하지 않는다</a:t>
            </a:r>
            <a:r>
              <a:rPr lang="en-US" altLang="ko-KR"/>
              <a:t>. </a:t>
            </a:r>
            <a:r>
              <a:rPr lang="ko-KR" altLang="en-US"/>
              <a:t>현재 구현에서 확인할 구체적인 범위와 연구 질문을 제시한다</a:t>
            </a:r>
            <a:r>
              <a:rPr lang="en-US" altLang="ko-KR"/>
              <a:t>. </a:t>
            </a:r>
            <a:r>
              <a:rPr lang="ko-KR" altLang="en-US"/>
              <a:t>내부 근거</a:t>
            </a:r>
            <a:r>
              <a:rPr lang="en-US" altLang="ko-KR"/>
              <a:t>: ppo/model.py, ppo/runtime.py, features/block.py, actors/market.py. </a:t>
            </a:r>
            <a:r>
              <a:rPr lang="ko-KR" altLang="en-US"/>
              <a:t>문헌 </a:t>
            </a:r>
            <a:r>
              <a:rPr lang="en-US" altLang="ko-KR"/>
              <a:t>[5]</a:t>
            </a:r>
            <a:r>
              <a:rPr lang="ko-KR" altLang="en-US"/>
              <a:t>와 </a:t>
            </a:r>
            <a:r>
              <a:rPr lang="en-US" altLang="ko-KR"/>
              <a:t>[6]</a:t>
            </a:r>
            <a:r>
              <a:rPr lang="ko-KR" altLang="en-US"/>
              <a:t>은 가까운 연구 흐름이며 </a:t>
            </a:r>
            <a:r>
              <a:rPr lang="en-US" altLang="ko-KR"/>
              <a:t>v5</a:t>
            </a:r>
            <a:r>
              <a:rPr lang="ko-KR" altLang="en-US"/>
              <a:t>의 효과를 입증하는 증거가 아니다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[5] Duan, S., Zheng, H.-X., &amp; Wang, Z.-Y. (2024). Integrated optimization of truck appointment quotas and container relocations for multiple blocks considering transshipment containers handling. Advanced Engineering Informatics, 62, 102668.</a:t>
            </a:r>
          </a:p>
          <a:p>
            <a:r>
              <a:rPr lang="en-US" altLang="ko-KR"/>
              <a:t>https://doi.org/10.1016/j.aei.2024.102668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https://www.sciencedirect.com/science/article/abs/pii/S1474034624003161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예약 정원</a:t>
            </a:r>
            <a:r>
              <a:rPr lang="en-US" altLang="ko-KR"/>
              <a:t>·</a:t>
            </a:r>
            <a:r>
              <a:rPr lang="ko-KR" altLang="en-US"/>
              <a:t>컨테이너 재취급</a:t>
            </a:r>
            <a:r>
              <a:rPr lang="en-US" altLang="ko-KR"/>
              <a:t>·</a:t>
            </a:r>
            <a:r>
              <a:rPr lang="ko-KR" altLang="en-US"/>
              <a:t>환적 작업과 야드크레인 스케줄링의 통합 최적화</a:t>
            </a:r>
            <a:r>
              <a:rPr lang="en-US" altLang="ko-KR"/>
              <a:t>. </a:t>
            </a:r>
            <a:r>
              <a:rPr lang="ko-KR" altLang="en-US"/>
              <a:t>여기서 </a:t>
            </a:r>
            <a:r>
              <a:rPr lang="en-US" altLang="ko-KR"/>
              <a:t>container relocation</a:t>
            </a:r>
            <a:r>
              <a:rPr lang="ko-KR" altLang="en-US"/>
              <a:t>을 </a:t>
            </a:r>
            <a:r>
              <a:rPr lang="en-US" altLang="ko-KR"/>
              <a:t>v5</a:t>
            </a:r>
            <a:r>
              <a:rPr lang="ko-KR" altLang="en-US"/>
              <a:t>의 반입 목적 블록 변경과 동일시하지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[6] Wang, W., Liu, H., Peng, Y., Cao, Z., Yu, P., &amp; Lu, Z. (2026). Yard crane real-time scheduling among multi-block at terminal: A reinforcement learning based proximal policy optimization approach. Transportation Research Part E, 207, 104635.</a:t>
            </a:r>
          </a:p>
          <a:p>
            <a:r>
              <a:rPr lang="en-US" altLang="ko-KR"/>
              <a:t>https://doi.org/10.1016/j.tre.2025.104635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https://www.sciencedirect.com/science/article/abs/pii/S136655452500657X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다중 블록 크레인 재배치에 </a:t>
            </a:r>
            <a:r>
              <a:rPr lang="en-US" altLang="ko-KR"/>
              <a:t>PPO</a:t>
            </a:r>
            <a:r>
              <a:rPr lang="ko-KR" altLang="en-US"/>
              <a:t>와 공유 정책을 적용한 선행연구</a:t>
            </a:r>
            <a:r>
              <a:rPr lang="en-US" altLang="ko-KR"/>
              <a:t>. </a:t>
            </a:r>
            <a:r>
              <a:rPr lang="ko-KR" altLang="en-US"/>
              <a:t>논문의 개선율은 </a:t>
            </a:r>
            <a:r>
              <a:rPr lang="en-US" altLang="ko-KR"/>
              <a:t>v5</a:t>
            </a:r>
            <a:r>
              <a:rPr lang="ko-KR" altLang="en-US"/>
              <a:t>로 옮기지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842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정책은 상황을 행동으로 바꾸는 선택 방법이고</a:t>
            </a:r>
            <a:r>
              <a:rPr lang="en-US" altLang="ko-KR"/>
              <a:t>, </a:t>
            </a:r>
            <a:r>
              <a:rPr lang="ko-KR" altLang="en-US"/>
              <a:t>정책망은 이를 계산하는 신경망이다</a:t>
            </a:r>
            <a:r>
              <a:rPr lang="en-US" altLang="ko-KR"/>
              <a:t>. </a:t>
            </a:r>
            <a:r>
              <a:rPr lang="ko-KR" altLang="en-US"/>
              <a:t>통합은 모든 행동을 한 번에 고른다는 뜻이 아니다</a:t>
            </a:r>
            <a:r>
              <a:rPr lang="en-US" altLang="ko-KR"/>
              <a:t>. </a:t>
            </a:r>
            <a:r>
              <a:rPr lang="ko-KR" altLang="en-US"/>
              <a:t>재배정 제안</a:t>
            </a:r>
            <a:r>
              <a:rPr lang="en-US" altLang="ko-KR"/>
              <a:t>·</a:t>
            </a:r>
            <a:r>
              <a:rPr lang="ko-KR" altLang="en-US"/>
              <a:t>수락과 사건별 크레인 선택을 순차적으로 같은 신경망에 연결한다</a:t>
            </a:r>
            <a:r>
              <a:rPr lang="en-US" altLang="ko-KR"/>
              <a:t>. </a:t>
            </a:r>
            <a:r>
              <a:rPr lang="ko-KR" altLang="en-US"/>
              <a:t>상호 동의와 물리 제약을 확인하는 실행 절차는 유지한다</a:t>
            </a:r>
            <a:r>
              <a:rPr lang="en-US" altLang="ko-KR"/>
              <a:t>. </a:t>
            </a:r>
            <a:r>
              <a:rPr lang="ko-KR" altLang="en-US"/>
              <a:t>재배정 거절은 원 주문 접수 거절이 아니며 기존 배정을 유지한다</a:t>
            </a:r>
            <a:r>
              <a:rPr lang="en-US" altLang="ko-KR"/>
              <a:t>. </a:t>
            </a:r>
            <a:r>
              <a:rPr lang="ko-KR" altLang="en-US"/>
              <a:t>내부 근거</a:t>
            </a:r>
            <a:r>
              <a:rPr lang="en-US" altLang="ko-KR"/>
              <a:t>: ppo/model.py, ppo/runtime.py, actors/resolver.py, stage/month.py.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189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PPO</a:t>
            </a:r>
            <a:r>
              <a:rPr lang="ko-KR" altLang="en-US"/>
              <a:t>의 전체 명칭은 </a:t>
            </a:r>
            <a:r>
              <a:rPr lang="en-US" altLang="ko-KR"/>
              <a:t>Proximal Policy Optimization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반사실 시뮬레이션은 다른 행동을 했다면 어떻게 됐을지 세계를 복제해 실행하는 비교 방식이다</a:t>
            </a:r>
            <a:r>
              <a:rPr lang="en-US" altLang="ko-KR"/>
              <a:t>. v5</a:t>
            </a:r>
            <a:r>
              <a:rPr lang="ko-KR" altLang="en-US"/>
              <a:t>에는 본 실행 시뮬레이터가 필요하며 시뮬레이션 자체를 없앤 것은 아니다</a:t>
            </a:r>
            <a:r>
              <a:rPr lang="en-US" altLang="ko-KR"/>
              <a:t>. </a:t>
            </a:r>
            <a:r>
              <a:rPr lang="ko-KR" altLang="en-US"/>
              <a:t>보상은 비용 증가분의 음수를 일정 단위로 나눈 값이다</a:t>
            </a:r>
            <a:r>
              <a:rPr lang="en-US" altLang="ko-KR"/>
              <a:t>. </a:t>
            </a:r>
            <a:r>
              <a:rPr lang="ko-KR" altLang="en-US"/>
              <a:t>가치 추정은 이후의 보상을 추정하는 계산이며 정확한 미래를 뜻하지 않는다</a:t>
            </a:r>
            <a:r>
              <a:rPr lang="en-US" altLang="ko-KR"/>
              <a:t>. 60</a:t>
            </a:r>
            <a:r>
              <a:rPr lang="ko-KR" altLang="en-US"/>
              <a:t>초는 기록 경계이고 모든 크레인이 </a:t>
            </a:r>
            <a:r>
              <a:rPr lang="en-US" altLang="ko-KR"/>
              <a:t>60</a:t>
            </a:r>
            <a:r>
              <a:rPr lang="ko-KR" altLang="en-US"/>
              <a:t>초마다 무조건 새 결정을 한다는 뜻이 아니다</a:t>
            </a:r>
            <a:r>
              <a:rPr lang="en-US" altLang="ko-KR"/>
              <a:t>. </a:t>
            </a:r>
            <a:r>
              <a:rPr lang="ko-KR" altLang="en-US"/>
              <a:t>내부 근거</a:t>
            </a:r>
            <a:r>
              <a:rPr lang="en-US" altLang="ko-KR"/>
              <a:t>: ppo/runtime.py, ppo/buffer.py, ppo/update.py.</a:t>
            </a:r>
          </a:p>
          <a:p>
            <a:endParaRPr lang="en-US" altLang="ko-KR"/>
          </a:p>
          <a:p>
            <a:r>
              <a:rPr lang="en-US" altLang="ko-KR"/>
              <a:t>[7] Schulman, J., Wolski, F., Dhariwal, P., Radford, A., &amp; Klimov, O. (2017). Proximal Policy Optimization Algorithms. arXiv:1707.06347.</a:t>
            </a:r>
          </a:p>
          <a:p>
            <a:r>
              <a:rPr lang="en-US" altLang="ko-KR"/>
              <a:t>https://arxiv.org/abs/1707.06347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https://arxiv.org/abs/1707.06347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환경과 상호작용한 경험으로 정책을 갱신하는 </a:t>
            </a:r>
            <a:r>
              <a:rPr lang="en-US" altLang="ko-KR"/>
              <a:t>PPO </a:t>
            </a:r>
            <a:r>
              <a:rPr lang="ko-KR" altLang="en-US"/>
              <a:t>방법</a:t>
            </a:r>
            <a:r>
              <a:rPr lang="en-US" altLang="ko-KR"/>
              <a:t>. </a:t>
            </a:r>
            <a:r>
              <a:rPr lang="ko-KR" altLang="en-US"/>
              <a:t>항만에서의 성능을 보장하지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293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페이지는 </a:t>
            </a:r>
            <a:r>
              <a:rPr lang="en-US" altLang="ko-KR"/>
              <a:t>v5 </a:t>
            </a:r>
            <a:r>
              <a:rPr lang="ko-KR" altLang="en-US"/>
              <a:t>설계에서 도출한 기대와 위험이다</a:t>
            </a:r>
            <a:r>
              <a:rPr lang="en-US" altLang="ko-KR"/>
              <a:t>. </a:t>
            </a:r>
            <a:r>
              <a:rPr lang="ko-KR" altLang="en-US"/>
              <a:t>공유 정책이나 </a:t>
            </a:r>
            <a:r>
              <a:rPr lang="en-US" altLang="ko-KR"/>
              <a:t>PPO</a:t>
            </a:r>
            <a:r>
              <a:rPr lang="ko-KR" altLang="en-US"/>
              <a:t>를 사용했다는 사실만으로 성능이 좋아진다고 결론 내리지 않는다</a:t>
            </a:r>
            <a:r>
              <a:rPr lang="en-US" altLang="ko-KR"/>
              <a:t>. </a:t>
            </a:r>
            <a:r>
              <a:rPr lang="ko-KR" altLang="en-US"/>
              <a:t>행동 범위가 다른 규칙과의 차이에는 재배정 가능 여부가 포함되므로</a:t>
            </a:r>
            <a:r>
              <a:rPr lang="en-US" altLang="ko-KR"/>
              <a:t>, </a:t>
            </a:r>
            <a:r>
              <a:rPr lang="ko-KR" altLang="en-US"/>
              <a:t>학습 전</a:t>
            </a:r>
            <a:r>
              <a:rPr lang="en-US" altLang="ko-KR"/>
              <a:t>·</a:t>
            </a:r>
            <a:r>
              <a:rPr lang="ko-KR" altLang="en-US"/>
              <a:t>후 정책 비교를 함께 사용해야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607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내부 근거</a:t>
            </a:r>
            <a:r>
              <a:rPr lang="en-US" altLang="ko-KR"/>
              <a:t>: reward/phi.py, reward/krw.py, ppo/runtime.py, stage/month.py</a:t>
            </a:r>
            <a:r>
              <a:rPr lang="ko-KR" altLang="en-US"/>
              <a:t>의 </a:t>
            </a:r>
            <a:r>
              <a:rPr lang="en-US" altLang="ko-KR"/>
              <a:t>month_vessel_idle. </a:t>
            </a:r>
            <a:r>
              <a:rPr lang="ko-KR" altLang="en-US"/>
              <a:t>트럭 체류는 순수한 줄서기만이 아니라 게이트 진입 이후 소요시간이다</a:t>
            </a:r>
            <a:r>
              <a:rPr lang="en-US" altLang="ko-KR"/>
              <a:t>. </a:t>
            </a:r>
            <a:r>
              <a:rPr lang="ko-KR" altLang="en-US"/>
              <a:t>본선 유휴는 구현된 집계 정의이며 실제 선박 지연</a:t>
            </a:r>
            <a:r>
              <a:rPr lang="en-US" altLang="ko-KR"/>
              <a:t>·</a:t>
            </a:r>
            <a:r>
              <a:rPr lang="ko-KR" altLang="en-US"/>
              <a:t>계약 손실 전체와 같지 않다</a:t>
            </a:r>
            <a:r>
              <a:rPr lang="en-US" altLang="ko-KR"/>
              <a:t>. </a:t>
            </a:r>
            <a:r>
              <a:rPr lang="ko-KR" altLang="en-US"/>
              <a:t>현재 비용에는 예약 이연에 따른 게이트 밖 대기</a:t>
            </a:r>
            <a:r>
              <a:rPr lang="en-US" altLang="ko-KR"/>
              <a:t>, </a:t>
            </a:r>
            <a:r>
              <a:rPr lang="ko-KR" altLang="en-US"/>
              <a:t>계약 위약금과 새 비선형 마감 벌점이 포함되지 않는다</a:t>
            </a:r>
            <a:r>
              <a:rPr lang="en-US" altLang="ko-KR"/>
              <a:t>. </a:t>
            </a:r>
            <a:r>
              <a:rPr lang="ko-KR" altLang="en-US"/>
              <a:t>따라서 이 합계를 모든 실제 경제 비용이라고 부르지 않는다</a:t>
            </a:r>
            <a:r>
              <a:rPr lang="en-US" altLang="ko-KR"/>
              <a:t>. </a:t>
            </a:r>
            <a:r>
              <a:rPr lang="ko-KR" altLang="en-US"/>
              <a:t>미완료 트럭도 평가 종료 시각까지 체류 비용을 계산한다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2280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첫 질문은 규칙 대비 전체 정책의 차이</a:t>
            </a:r>
            <a:r>
              <a:rPr lang="en-US" altLang="ko-KR"/>
              <a:t>, </a:t>
            </a:r>
            <a:r>
              <a:rPr lang="ko-KR" altLang="en-US"/>
              <a:t>둘째는 동일 행동 범위를 가진 학습 전</a:t>
            </a:r>
            <a:r>
              <a:rPr lang="en-US" altLang="ko-KR"/>
              <a:t>·</a:t>
            </a:r>
            <a:r>
              <a:rPr lang="ko-KR" altLang="en-US"/>
              <a:t>후의 차이를 묻는다</a:t>
            </a:r>
            <a:r>
              <a:rPr lang="en-US" altLang="ko-KR"/>
              <a:t>. </a:t>
            </a:r>
            <a:r>
              <a:rPr lang="ko-KR" altLang="en-US"/>
              <a:t>셋째는 특정 혼잡 상황에만 이득이 집중되거나 작업이 남는 문제를 살피는 질문이다</a:t>
            </a:r>
            <a:r>
              <a:rPr lang="en-US" altLang="ko-KR"/>
              <a:t>. </a:t>
            </a:r>
            <a:r>
              <a:rPr lang="ko-KR" altLang="en-US"/>
              <a:t>현재 참고 비교는 같은 학습 명단을 재사용하므로 새로운 주문에서의 일반화 성능을 확정하지 못한다</a:t>
            </a:r>
            <a:r>
              <a:rPr lang="en-US" altLang="ko-KR"/>
              <a:t>. </a:t>
            </a:r>
            <a:r>
              <a:rPr lang="ko-KR" altLang="en-US"/>
              <a:t>이 서론은 실험 절차를 상세히 제시하거나 결과를 보고하는 부분이 아니다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676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21</a:t>
            </a:r>
            <a:r>
              <a:rPr lang="ko-KR" altLang="en-US"/>
              <a:t>개 블록은 </a:t>
            </a:r>
            <a:r>
              <a:rPr lang="en-US" altLang="ko-KR"/>
              <a:t>v5</a:t>
            </a:r>
            <a:r>
              <a:rPr lang="ko-KR" altLang="en-US"/>
              <a:t>의 실험 규모이며 실제 부산항 전체나 특정 터미널을 그대로 복제한 수치가 아니다</a:t>
            </a:r>
            <a:r>
              <a:rPr lang="en-US" altLang="ko-KR"/>
              <a:t>. </a:t>
            </a:r>
            <a:r>
              <a:rPr lang="ko-KR" altLang="en-US"/>
              <a:t>원 주문 등록을 용량 때문에 삭제하지 않는 경로와 재배정 후보의 용량 검사는 구별한다</a:t>
            </a:r>
            <a:r>
              <a:rPr lang="en-US" altLang="ko-KR"/>
              <a:t>. </a:t>
            </a:r>
            <a:r>
              <a:rPr lang="ko-KR" altLang="en-US"/>
              <a:t>공간 재배정은 반입만 허용한다</a:t>
            </a:r>
            <a:r>
              <a:rPr lang="en-US" altLang="ko-KR"/>
              <a:t>. </a:t>
            </a:r>
            <a:r>
              <a:rPr lang="ko-KR" altLang="en-US"/>
              <a:t>본선 선적</a:t>
            </a:r>
            <a:r>
              <a:rPr lang="en-US" altLang="ko-KR"/>
              <a:t>·</a:t>
            </a:r>
            <a:r>
              <a:rPr lang="ko-KR" altLang="en-US"/>
              <a:t>양하 대상도 고정 목록과 연결한다</a:t>
            </a:r>
            <a:r>
              <a:rPr lang="en-US" altLang="ko-KR"/>
              <a:t>. </a:t>
            </a:r>
            <a:r>
              <a:rPr lang="ko-KR" altLang="en-US"/>
              <a:t>미완료 작업과 대기 동작의 검증이 남아 있으므로 학습 완주를 운영 적합성으로 해석하지 않는다</a:t>
            </a:r>
            <a:r>
              <a:rPr lang="en-US" altLang="ko-KR"/>
              <a:t>. 6</a:t>
            </a:r>
            <a:r>
              <a:rPr lang="ko-KR" altLang="en-US"/>
              <a:t>시간 통지창 확대와 새 비선형 본선 마감 비용은 현재 구현 범위에 넣지 않는다</a:t>
            </a:r>
            <a:r>
              <a:rPr lang="en-US" altLang="ko-KR"/>
              <a:t>. </a:t>
            </a:r>
            <a:r>
              <a:rPr lang="ko-KR" altLang="en-US"/>
              <a:t>내부 근거</a:t>
            </a:r>
            <a:r>
              <a:rPr lang="en-US" altLang="ko-KR"/>
              <a:t>: YR-306-fixed-seed-regeneration.md, YR-306-fixed-cargo-runtime.md, YR-306-reference-comparison.md.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149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기대 기여는 연구 목표다</a:t>
            </a:r>
            <a:r>
              <a:rPr lang="en-US" altLang="ko-KR"/>
              <a:t>. PPO </a:t>
            </a:r>
            <a:r>
              <a:rPr lang="ko-KR" altLang="en-US"/>
              <a:t>자체의 발명이나 통합 최적화의 최초 사례를 주장하지 않는다</a:t>
            </a:r>
            <a:r>
              <a:rPr lang="en-US" altLang="ko-KR"/>
              <a:t>. </a:t>
            </a:r>
            <a:r>
              <a:rPr lang="ko-KR" altLang="en-US"/>
              <a:t>성능 우위</a:t>
            </a:r>
            <a:r>
              <a:rPr lang="en-US" altLang="ko-KR"/>
              <a:t>, </a:t>
            </a:r>
            <a:r>
              <a:rPr lang="ko-KR" altLang="en-US"/>
              <a:t>일반화</a:t>
            </a:r>
            <a:r>
              <a:rPr lang="en-US" altLang="ko-KR"/>
              <a:t>, </a:t>
            </a:r>
            <a:r>
              <a:rPr lang="ko-KR" altLang="en-US"/>
              <a:t>실제 항만 적용 가능성은 아직 확정하지 않는다</a:t>
            </a:r>
            <a:r>
              <a:rPr lang="en-US" altLang="ko-KR"/>
              <a:t>. </a:t>
            </a:r>
            <a:r>
              <a:rPr lang="ko-KR" altLang="en-US"/>
              <a:t>반사실 세계를 사용하지 않아 특정 계산을 생략한다는 구조 설명과 총실행시간이 얼마나 줄어드는지의 실측 주장을 구별한다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[5] Duan, S., Zheng, H.-X., &amp; Wang, Z.-Y. (2024). Integrated optimization of truck appointment quotas and container relocations for multiple blocks considering transshipment containers handling. Advanced Engineering Informatics, 62, 102668.</a:t>
            </a:r>
          </a:p>
          <a:p>
            <a:r>
              <a:rPr lang="en-US" altLang="ko-KR"/>
              <a:t>https://doi.org/10.1016/j.aei.2024.102668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https://www.sciencedirect.com/science/article/abs/pii/S1474034624003161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예약 정원</a:t>
            </a:r>
            <a:r>
              <a:rPr lang="en-US" altLang="ko-KR"/>
              <a:t>·</a:t>
            </a:r>
            <a:r>
              <a:rPr lang="ko-KR" altLang="en-US"/>
              <a:t>컨테이너 재취급</a:t>
            </a:r>
            <a:r>
              <a:rPr lang="en-US" altLang="ko-KR"/>
              <a:t>·</a:t>
            </a:r>
            <a:r>
              <a:rPr lang="ko-KR" altLang="en-US"/>
              <a:t>환적 작업과 야드크레인 스케줄링의 통합 최적화</a:t>
            </a:r>
            <a:r>
              <a:rPr lang="en-US" altLang="ko-KR"/>
              <a:t>. </a:t>
            </a:r>
            <a:r>
              <a:rPr lang="ko-KR" altLang="en-US"/>
              <a:t>여기서 </a:t>
            </a:r>
            <a:r>
              <a:rPr lang="en-US" altLang="ko-KR"/>
              <a:t>container relocation</a:t>
            </a:r>
            <a:r>
              <a:rPr lang="ko-KR" altLang="en-US"/>
              <a:t>을 </a:t>
            </a:r>
            <a:r>
              <a:rPr lang="en-US" altLang="ko-KR"/>
              <a:t>v5</a:t>
            </a:r>
            <a:r>
              <a:rPr lang="ko-KR" altLang="en-US"/>
              <a:t>의 반입 목적 블록 변경과 동일시하지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[6] Wang, W., Liu, H., Peng, Y., Cao, Z., Yu, P., &amp; Lu, Z. (2026). Yard crane real-time scheduling among multi-block at terminal: A reinforcement learning based proximal policy optimization approach. Transportation Research Part E, 207, 104635.</a:t>
            </a:r>
          </a:p>
          <a:p>
            <a:r>
              <a:rPr lang="en-US" altLang="ko-KR"/>
              <a:t>https://doi.org/10.1016/j.tre.2025.104635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https://www.sciencedirect.com/science/article/abs/pii/S136655452500657X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다중 블록 크레인 재배치에 </a:t>
            </a:r>
            <a:r>
              <a:rPr lang="en-US" altLang="ko-KR"/>
              <a:t>PPO</a:t>
            </a:r>
            <a:r>
              <a:rPr lang="ko-KR" altLang="en-US"/>
              <a:t>와 공유 정책을 적용한 선행연구</a:t>
            </a:r>
            <a:r>
              <a:rPr lang="en-US" altLang="ko-KR"/>
              <a:t>. </a:t>
            </a:r>
            <a:r>
              <a:rPr lang="ko-KR" altLang="en-US"/>
              <a:t>논문의 개선율은 </a:t>
            </a:r>
            <a:r>
              <a:rPr lang="en-US" altLang="ko-KR"/>
              <a:t>v5</a:t>
            </a:r>
            <a:r>
              <a:rPr lang="ko-KR" altLang="en-US"/>
              <a:t>로 옮기지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[7] Schulman, J., Wolski, F., Dhariwal, P., Radford, A., &amp; Klimov, O. (2017). Proximal Policy Optimization Algorithms. arXiv:1707.06347.</a:t>
            </a:r>
          </a:p>
          <a:p>
            <a:r>
              <a:rPr lang="en-US" altLang="ko-KR"/>
              <a:t>https://arxiv.org/abs/1707.06347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https://arxiv.org/abs/1707.06347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환경과 상호작용한 경험으로 정책을 갱신하는 </a:t>
            </a:r>
            <a:r>
              <a:rPr lang="en-US" altLang="ko-KR"/>
              <a:t>PPO </a:t>
            </a:r>
            <a:r>
              <a:rPr lang="ko-KR" altLang="en-US"/>
              <a:t>방법</a:t>
            </a:r>
            <a:r>
              <a:rPr lang="en-US" altLang="ko-KR"/>
              <a:t>. </a:t>
            </a:r>
            <a:r>
              <a:rPr lang="ko-KR" altLang="en-US"/>
              <a:t>항만에서의 성능을 보장하지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317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졸업논문 서론의 마지막 문단으로 사용할 수 있는 요약이다</a:t>
            </a:r>
            <a:r>
              <a:rPr lang="en-US" altLang="ko-KR"/>
              <a:t>. </a:t>
            </a:r>
            <a:r>
              <a:rPr lang="ko-KR" altLang="en-US"/>
              <a:t>서론의 흐름은 운영 배경</a:t>
            </a:r>
            <a:r>
              <a:rPr lang="en-US" altLang="ko-KR"/>
              <a:t>, </a:t>
            </a:r>
            <a:r>
              <a:rPr lang="ko-KR" altLang="en-US"/>
              <a:t>연결된 의사결정 문제</a:t>
            </a:r>
            <a:r>
              <a:rPr lang="en-US" altLang="ko-KR"/>
              <a:t>, </a:t>
            </a:r>
            <a:r>
              <a:rPr lang="ko-KR" altLang="en-US"/>
              <a:t>가까운 선행연구</a:t>
            </a:r>
            <a:r>
              <a:rPr lang="en-US" altLang="ko-KR"/>
              <a:t>, </a:t>
            </a:r>
            <a:r>
              <a:rPr lang="ko-KR" altLang="en-US"/>
              <a:t>구체적 연구 범위</a:t>
            </a:r>
            <a:r>
              <a:rPr lang="en-US" altLang="ko-KR"/>
              <a:t>, </a:t>
            </a:r>
            <a:r>
              <a:rPr lang="ko-KR" altLang="en-US"/>
              <a:t>학습 접근</a:t>
            </a:r>
            <a:r>
              <a:rPr lang="en-US" altLang="ko-KR"/>
              <a:t>, </a:t>
            </a:r>
            <a:r>
              <a:rPr lang="ko-KR" altLang="en-US"/>
              <a:t>연구 질문과 기대 기여 순서다</a:t>
            </a:r>
            <a:r>
              <a:rPr lang="en-US" altLang="ko-KR"/>
              <a:t>. </a:t>
            </a:r>
            <a:r>
              <a:rPr lang="ko-KR" altLang="en-US"/>
              <a:t>실험 결과나 논문 전체 결론은 포함하지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43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서론의 배경과 운영 문제를 뒷받침하는 문헌이다</a:t>
            </a:r>
            <a:r>
              <a:rPr lang="en-US" altLang="ko-KR"/>
              <a:t>. </a:t>
            </a:r>
            <a:r>
              <a:rPr lang="ko-KR" altLang="en-US"/>
              <a:t>논문별 주장 범위는 원고의 문헌 설명을 참고한다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[1] Yen, B. T. H., Huang, M. J., Lai, H. J., Cho, H. H., &amp; Huang, Y. L. (2023). How smart port design influences port efficiency: A DEA-Tobit approach. Research in Transportation Business &amp; Management, 46, 100862.</a:t>
            </a:r>
          </a:p>
          <a:p>
            <a:r>
              <a:rPr lang="en-US" altLang="ko-KR"/>
              <a:t>https://doi.org/10.1016/j.rtbm.2022.100862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https://www.sciencedirect.com/science/article/pii/S2210539522000839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스마트항만 설계 요소와 효율의 관계</a:t>
            </a:r>
            <a:r>
              <a:rPr lang="en-US" altLang="ko-KR"/>
              <a:t>. </a:t>
            </a:r>
            <a:r>
              <a:rPr lang="ko-KR" altLang="en-US"/>
              <a:t>정보기술 도입이 항상 효율을 높인다는 근거로 사용하지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[2] Chen, G., Govindan, K., &amp; Yang, Z. (2013). Managing truck arrivals with time windows to alleviate gate congestion at container terminals. International Journal of Production Economics, 141(1), 179–188.</a:t>
            </a:r>
          </a:p>
          <a:p>
            <a:r>
              <a:rPr lang="en-US" altLang="ko-KR"/>
              <a:t>https://doi.org/10.1016/j.ijpe.2012.03.033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https://www.sciencedirect.com/science/article/pii/S0925527312001417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시간창을 이용한 도착 분산과 게이트 혼잡 관리</a:t>
            </a:r>
            <a:r>
              <a:rPr lang="en-US" altLang="ko-KR"/>
              <a:t>. v5</a:t>
            </a:r>
            <a:r>
              <a:rPr lang="ko-KR" altLang="en-US"/>
              <a:t>의 성능이나 세부 제약의 근거는 아니다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[3] Phan, M.-H., &amp; Kim, K. H. (2015). Negotiating truck arrival times among trucking companies and a container terminal. Transportation Research Part E, 75, 132–144.</a:t>
            </a:r>
          </a:p>
          <a:p>
            <a:r>
              <a:rPr lang="en-US" altLang="ko-KR"/>
              <a:t>https://doi.org/10.1016/j.tre.2015.01.004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https://www.sciencedirect.com/science/article/pii/S1366554515000058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야드 작업량을 고려한 도착시각 협의</a:t>
            </a:r>
            <a:r>
              <a:rPr lang="en-US" altLang="ko-KR"/>
              <a:t>, </a:t>
            </a:r>
            <a:r>
              <a:rPr lang="ko-KR" altLang="en-US"/>
              <a:t>운송사 불편 비용과 트럭 대기 비용</a:t>
            </a:r>
            <a:r>
              <a:rPr lang="en-US" altLang="ko-KR"/>
              <a:t>. v5</a:t>
            </a:r>
            <a:r>
              <a:rPr lang="ko-KR" altLang="en-US"/>
              <a:t>는 이 불편 비용을 모두 구현하지 않았다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[4] Speer, U., &amp; Fischer, K. (2017). Scheduling of Different Automated Yard Crane Systems at Container Terminals. Transportation Science, 51(1), 305–324.</a:t>
            </a:r>
          </a:p>
          <a:p>
            <a:r>
              <a:rPr lang="en-US" altLang="ko-KR"/>
              <a:t>https://doi.org/10.1287/trsc.2016.0687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https://pubsonline.informs.org/doi/abs/10.1287/trsc.2016.0687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야드크레인 이동</a:t>
            </a:r>
            <a:r>
              <a:rPr lang="en-US" altLang="ko-KR"/>
              <a:t>·</a:t>
            </a:r>
            <a:r>
              <a:rPr lang="ko-KR" altLang="en-US"/>
              <a:t>간섭과 작업 지연을 고려하는 스케줄링</a:t>
            </a:r>
            <a:r>
              <a:rPr lang="en-US" altLang="ko-KR"/>
              <a:t>. </a:t>
            </a:r>
            <a:r>
              <a:rPr lang="ko-KR" altLang="en-US"/>
              <a:t>온라인 출판 </a:t>
            </a:r>
            <a:r>
              <a:rPr lang="en-US" altLang="ko-KR"/>
              <a:t>2016, </a:t>
            </a:r>
            <a:r>
              <a:rPr lang="ko-KR" altLang="en-US"/>
              <a:t>권호 연도 </a:t>
            </a:r>
            <a:r>
              <a:rPr lang="en-US" altLang="ko-KR"/>
              <a:t>2017.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0083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통합 최적화와 </a:t>
            </a:r>
            <a:r>
              <a:rPr lang="en-US" altLang="ko-KR"/>
              <a:t>PPO</a:t>
            </a:r>
            <a:r>
              <a:rPr lang="ko-KR" altLang="en-US"/>
              <a:t>에 관한 가까운 선행연구다</a:t>
            </a:r>
            <a:r>
              <a:rPr lang="en-US" altLang="ko-KR"/>
              <a:t>. </a:t>
            </a:r>
            <a:r>
              <a:rPr lang="ko-KR" altLang="en-US"/>
              <a:t>기존 논문의 실험 성과를 본 연구의 성과로 사용하지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[5] Duan, S., Zheng, H.-X., &amp; Wang, Z.-Y. (2024). Integrated optimization of truck appointment quotas and container relocations for multiple blocks considering transshipment containers handling. Advanced Engineering Informatics, 62, 102668.</a:t>
            </a:r>
          </a:p>
          <a:p>
            <a:r>
              <a:rPr lang="en-US" altLang="ko-KR"/>
              <a:t>https://doi.org/10.1016/j.aei.2024.102668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https://www.sciencedirect.com/science/article/abs/pii/S1474034624003161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예약 정원</a:t>
            </a:r>
            <a:r>
              <a:rPr lang="en-US" altLang="ko-KR"/>
              <a:t>·</a:t>
            </a:r>
            <a:r>
              <a:rPr lang="ko-KR" altLang="en-US"/>
              <a:t>컨테이너 재취급</a:t>
            </a:r>
            <a:r>
              <a:rPr lang="en-US" altLang="ko-KR"/>
              <a:t>·</a:t>
            </a:r>
            <a:r>
              <a:rPr lang="ko-KR" altLang="en-US"/>
              <a:t>환적 작업과 야드크레인 스케줄링의 통합 최적화</a:t>
            </a:r>
            <a:r>
              <a:rPr lang="en-US" altLang="ko-KR"/>
              <a:t>. </a:t>
            </a:r>
            <a:r>
              <a:rPr lang="ko-KR" altLang="en-US"/>
              <a:t>여기서 </a:t>
            </a:r>
            <a:r>
              <a:rPr lang="en-US" altLang="ko-KR"/>
              <a:t>container relocation</a:t>
            </a:r>
            <a:r>
              <a:rPr lang="ko-KR" altLang="en-US"/>
              <a:t>을 </a:t>
            </a:r>
            <a:r>
              <a:rPr lang="en-US" altLang="ko-KR"/>
              <a:t>v5</a:t>
            </a:r>
            <a:r>
              <a:rPr lang="ko-KR" altLang="en-US"/>
              <a:t>의 반입 목적 블록 변경과 동일시하지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[6] Wang, W., Liu, H., Peng, Y., Cao, Z., Yu, P., &amp; Lu, Z. (2026). Yard crane real-time scheduling among multi-block at terminal: A reinforcement learning based proximal policy optimization approach. Transportation Research Part E, 207, 104635.</a:t>
            </a:r>
          </a:p>
          <a:p>
            <a:r>
              <a:rPr lang="en-US" altLang="ko-KR"/>
              <a:t>https://doi.org/10.1016/j.tre.2025.104635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https://www.sciencedirect.com/science/article/abs/pii/S136655452500657X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다중 블록 크레인 재배치에 </a:t>
            </a:r>
            <a:r>
              <a:rPr lang="en-US" altLang="ko-KR"/>
              <a:t>PPO</a:t>
            </a:r>
            <a:r>
              <a:rPr lang="ko-KR" altLang="en-US"/>
              <a:t>와 공유 정책을 적용한 선행연구</a:t>
            </a:r>
            <a:r>
              <a:rPr lang="en-US" altLang="ko-KR"/>
              <a:t>. </a:t>
            </a:r>
            <a:r>
              <a:rPr lang="ko-KR" altLang="en-US"/>
              <a:t>논문의 개선율은 </a:t>
            </a:r>
            <a:r>
              <a:rPr lang="en-US" altLang="ko-KR"/>
              <a:t>v5</a:t>
            </a:r>
            <a:r>
              <a:rPr lang="ko-KR" altLang="en-US"/>
              <a:t>로 옮기지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[7] Schulman, J., Wolski, F., Dhariwal, P., Radford, A., &amp; Klimov, O. (2017). Proximal Policy Optimization Algorithms. arXiv:1707.06347.</a:t>
            </a:r>
          </a:p>
          <a:p>
            <a:r>
              <a:rPr lang="en-US" altLang="ko-KR"/>
              <a:t>https://arxiv.org/abs/1707.06347</a:t>
            </a:r>
          </a:p>
          <a:p>
            <a:r>
              <a:rPr lang="ko-KR" altLang="en-US"/>
              <a:t>확인 자료</a:t>
            </a:r>
            <a:r>
              <a:rPr lang="en-US" altLang="ko-KR"/>
              <a:t>: https://arxiv.org/abs/1707.06347</a:t>
            </a:r>
          </a:p>
          <a:p>
            <a:r>
              <a:rPr lang="ko-KR" altLang="en-US"/>
              <a:t>인용 범위</a:t>
            </a:r>
            <a:r>
              <a:rPr lang="en-US" altLang="ko-KR"/>
              <a:t>: </a:t>
            </a:r>
            <a:r>
              <a:rPr lang="ko-KR" altLang="en-US"/>
              <a:t>환경과 상호작용한 경험으로 정책을 갱신하는 </a:t>
            </a:r>
            <a:r>
              <a:rPr lang="en-US" altLang="ko-KR"/>
              <a:t>PPO </a:t>
            </a:r>
            <a:r>
              <a:rPr lang="ko-KR" altLang="en-US"/>
              <a:t>방법</a:t>
            </a:r>
            <a:r>
              <a:rPr lang="en-US" altLang="ko-KR"/>
              <a:t>. </a:t>
            </a:r>
            <a:r>
              <a:rPr lang="ko-KR" altLang="en-US"/>
              <a:t>항만에서의 성능을 보장하지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DA479-B150-48F2-A968-19E7760D3A3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146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734D2-D1D9-D88A-1D48-F64829724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DA10ED-AAEB-2233-DE98-76E40AD45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88AA7-B3D5-8A4E-E9B9-D3E0BB92D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9ACF-22B5-43C8-AA75-B2D09A1CE48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17B310-04C7-EED9-5CFB-4DAC77D8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2A18C6-5A30-B57D-43CF-E6C44EFC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A483C-D323-4225-92C4-6BF6756AE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251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DF60B2-B466-AC97-E807-B13CC1892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286207-1D08-62CD-C407-FAC4F6DDD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5F82A7-2E60-C034-D310-E4A677FAE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9ACF-22B5-43C8-AA75-B2D09A1CE48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E884E5-BC43-FDC4-356A-F3FA2296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73AE6-7897-FC42-3E6D-B57CC5652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A483C-D323-4225-92C4-6BF6756AE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496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A0E93-29D2-A209-E540-FD4318D7A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436356-4644-106E-AC65-260400440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0E3352-EFBA-A2A9-EC73-3415E814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9ACF-22B5-43C8-AA75-B2D09A1CE48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FF76C3-59F0-8888-B0B3-8B8106240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076CF-6EEB-5D8C-743B-D07ADEBA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A483C-D323-4225-92C4-6BF6756AE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899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EF140-79A0-1D2C-8EA0-7D31B630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853339-FCC8-04EE-2E79-97001731E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2501F3-BCF4-39AC-1F05-B9573939D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25D9CC-B52D-2AD4-FC1A-66D6F89AB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9ACF-22B5-43C8-AA75-B2D09A1CE48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A2179F-4288-AAF4-D0E3-29FE8F802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F31D6B-680E-F6B5-030E-B6010E534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A483C-D323-4225-92C4-6BF6756AE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291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B6F24B-56EB-7554-7D61-B748A4735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8C3189-F140-F70C-0E0D-625D39A93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2CC90F-202B-234D-70DF-E342DAB93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8DDBB2-537A-DE62-009B-ED75A0C54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20AA7F-C734-9ABB-2529-B1DCDF262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3C1C2C9-FBC1-4CBC-AAFE-B285BAD7E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9ACF-22B5-43C8-AA75-B2D09A1CE48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6E443E-1298-460F-4E13-C7E2251D3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05FE6C-B716-93BD-8536-729ED54B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A483C-D323-4225-92C4-6BF6756AE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799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295CE-F713-6111-EC37-99587E64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53C393-4E1E-6EAE-F0B5-E4CAEE3C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9ACF-22B5-43C8-AA75-B2D09A1CE48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47A665-FA08-F4E2-DD7E-C4B6A8B82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673ADD-315E-465C-1AE2-927C4233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A483C-D323-4225-92C4-6BF6756AE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06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F9C7AB-EA14-589C-F1F7-6C73F1DA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9ACF-22B5-43C8-AA75-B2D09A1CE48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786BF27-978A-A379-4282-4F3B694D6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A3369D-C32B-E4FF-3ADB-BBFC915E6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A483C-D323-4225-92C4-6BF6756AE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95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D9DEC-C56C-7CA3-757A-FF7993BE8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02A6CB-6115-243D-877D-66EFDE42E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474041-E382-0103-3194-BAFDE4189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A6888A-EC5D-C054-E2A4-C59A5EE4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9ACF-22B5-43C8-AA75-B2D09A1CE48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7776BE-C17D-2528-CDB2-98F4126F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D6E9A0-F143-3758-C0EB-A2E4E4B1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A483C-D323-4225-92C4-6BF6756AE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722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C9DCC-88CA-56D3-00A6-13E0B825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3A74DE-5EE1-EBB9-8075-DF2A0962BD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9AEB47-CD64-4D20-4FD7-2CCF6851E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909D92-0DAB-BA17-3EAB-024747A7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9ACF-22B5-43C8-AA75-B2D09A1CE48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8C7D8-0A90-F1CD-47F3-92A4F144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2B5C8D-7E29-F738-8176-DEAC0DCA9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A483C-D323-4225-92C4-6BF6756AE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098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82CD6-B0AC-D2CD-062D-7467C208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337E9F-11D8-1AAF-55E7-B52949D9F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3247FA-9028-6638-0EF3-82FA8CFD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9ACF-22B5-43C8-AA75-B2D09A1CE48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8EA514-0480-7116-E751-F46B023AA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1348AF-625F-E829-E6A0-76C731C52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A483C-D323-4225-92C4-6BF6756AE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67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82BD32-3075-74A4-D611-68213BB6E4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51B9D3-6B79-05CE-D660-72A68E24A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A843BF-2936-A934-DCB3-5A75EF148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9ACF-22B5-43C8-AA75-B2D09A1CE48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DA9EEB-87C0-0E67-5E40-51CCF257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05611D-808A-0879-30C9-8390348B3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A483C-D323-4225-92C4-6BF6756AE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40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4D4C7F-0DE1-FE1B-05E1-A02E6FAEC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03C31D-FEE6-B9BD-39A9-D42E7A916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6F8449-72D6-CFC0-5A7E-2DE53ECA6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B9ACF-22B5-43C8-AA75-B2D09A1CE48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A79816-F6E3-6B37-BB72-D17CD049C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A4D0F2-FC6E-FE3B-F3B1-19F3D766A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7A483C-D323-4225-92C4-6BF6756AE3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409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rtbm.2022.10086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ijpe.2012.03.03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016/j.tre.2015.01.004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aei.2024.102668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287/trsc.2016.0687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ijpe.2012.03.033" TargetMode="External"/><Relationship Id="rId7" Type="http://schemas.openxmlformats.org/officeDocument/2006/relationships/hyperlink" Target="https://doi.org/10.1016/j.tre.2025.104635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16/j.aei.2024.102668" TargetMode="External"/><Relationship Id="rId5" Type="http://schemas.openxmlformats.org/officeDocument/2006/relationships/hyperlink" Target="https://doi.org/10.1287/trsc.2016.0687" TargetMode="External"/><Relationship Id="rId4" Type="http://schemas.openxmlformats.org/officeDocument/2006/relationships/hyperlink" Target="https://doi.org/10.1016/j.tre.2015.01.004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aei.2024.102668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016/j.tre.2025.104635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7.06347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aei.2024.102668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rxiv.org/abs/1707.06347" TargetMode="External"/><Relationship Id="rId4" Type="http://schemas.openxmlformats.org/officeDocument/2006/relationships/hyperlink" Target="https://doi.org/10.1016/j.tre.2025.104635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rtbm.2022.100862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287/trsc.2016.0687" TargetMode="External"/><Relationship Id="rId5" Type="http://schemas.openxmlformats.org/officeDocument/2006/relationships/hyperlink" Target="https://doi.org/10.1016/j.tre.2015.01.004" TargetMode="External"/><Relationship Id="rId4" Type="http://schemas.openxmlformats.org/officeDocument/2006/relationships/hyperlink" Target="https://doi.org/10.1016/j.ijpe.2012.03.033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aei.2024.102668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rxiv.org/abs/1707.06347" TargetMode="External"/><Relationship Id="rId4" Type="http://schemas.openxmlformats.org/officeDocument/2006/relationships/hyperlink" Target="https://doi.org/10.1016/j.tre.2025.10463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785751-5124-7E74-11BF-CDDAE39EE6F4}"/>
              </a:ext>
            </a:extLst>
          </p:cNvPr>
          <p:cNvSpPr txBox="1"/>
          <p:nvPr/>
        </p:nvSpPr>
        <p:spPr>
          <a:xfrm>
            <a:off x="609600" y="1333500"/>
            <a:ext cx="109728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4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컨테이너 터미널의 작업 재배정과</a:t>
            </a:r>
          </a:p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4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야드크레인 배정을 위한</a:t>
            </a:r>
          </a:p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4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강화학습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E1302CA-5D6F-8B71-5BB8-F60ECE3218BE}"/>
              </a:ext>
            </a:extLst>
          </p:cNvPr>
          <p:cNvSpPr txBox="1"/>
          <p:nvPr/>
        </p:nvSpPr>
        <p:spPr>
          <a:xfrm>
            <a:off x="609600" y="4445000"/>
            <a:ext cx="109728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졸업논문 서론</a:t>
            </a:r>
          </a:p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200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v5 </a:t>
            </a:r>
            <a:r>
              <a:rPr lang="ko-KR" altLang="en-US" sz="200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블록 정책</a:t>
            </a:r>
          </a:p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200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PPO: </a:t>
            </a:r>
            <a:r>
              <a:rPr lang="ko-KR" altLang="en-US" sz="200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경험으로 정책을 갱신하는 강화학습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AFF9520-E3EE-82E7-9D9F-B7B5AD8B8E4A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245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609555C-7405-3957-4863-570228E898C6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스마트항만과 운영 의사결정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E15E6B1A-D61F-17AB-067A-394C663A7CD3}"/>
              </a:ext>
            </a:extLst>
          </p:cNvPr>
          <p:cNvSpPr txBox="1"/>
          <p:nvPr/>
        </p:nvSpPr>
        <p:spPr>
          <a:xfrm>
            <a:off x="609600" y="1676400"/>
            <a:ext cx="10972800" cy="316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스마트항만 연구는 장비 자동화뿐 아니라 정보 활용과 운영 효율을 함께 다룬다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장비와 정보를 갖춘 뒤에도 어떤 작업을 언제 처리할지는 계속 결정해야 한다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연구는 관측한 혼잡을 실제 작업 배정에 반영하는 문제에 초점을 둔다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EDDD58BA-C40C-B5DC-C89E-EEFE6197518F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연구의 출발점은 주어진 장비를 현재 상황에 맞게 운영하는 방법이다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ference-1">
            <a:extLst>
              <a:ext uri="{FF2B5EF4-FFF2-40B4-BE49-F238E27FC236}">
                <a16:creationId xmlns:a16="http://schemas.microsoft.com/office/drawing/2014/main" id="{763A7975-D81C-C741-C8CA-81E9DC67228A}"/>
              </a:ext>
            </a:extLst>
          </p:cNvPr>
          <p:cNvSpPr txBox="1"/>
          <p:nvPr/>
        </p:nvSpPr>
        <p:spPr>
          <a:xfrm>
            <a:off x="609600" y="5753100"/>
            <a:ext cx="10795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[1] How smart port design influences port efficiency: A DEA-Tobit approach (2023)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BD44A36B-97C7-E8D9-B08F-4A76E19DC141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9334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FDE71FB-CB74-FE04-E65B-E6D2C4E579D0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야드크레인이 연결하는 작업</a:t>
            </a:r>
          </a:p>
        </p:txBody>
      </p:sp>
      <p:graphicFrame>
        <p:nvGraphicFramePr>
          <p:cNvPr id="3" name="content-table">
            <a:extLst>
              <a:ext uri="{FF2B5EF4-FFF2-40B4-BE49-F238E27FC236}">
                <a16:creationId xmlns:a16="http://schemas.microsoft.com/office/drawing/2014/main" id="{BFA2318D-82D1-8925-98A9-483197448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576126"/>
              </p:ext>
            </p:extLst>
          </p:nvPr>
        </p:nvGraphicFramePr>
        <p:xfrm>
          <a:off x="609600" y="1612900"/>
          <a:ext cx="109728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4043508412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899068697"/>
                    </a:ext>
                  </a:extLst>
                </a:gridCol>
                <a:gridCol w="4241800">
                  <a:extLst>
                    <a:ext uri="{9D8B030D-6E8A-4147-A177-3AD203B41FA5}">
                      <a16:colId xmlns:a16="http://schemas.microsoft.com/office/drawing/2014/main" val="401106637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컨테이너의 흐름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야드에서 하는 일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2592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트럭 반입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 트럭에서 야드로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들어온 컨테이너를 적치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18529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트럭 반출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야드에서 외부 트럭으로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 컨테이너를 찾아 전달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48041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본선 양하 연계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선박에서 운송장비를 거쳐 야드로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내려온 컨테이너를 적치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16879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본선 적하 연계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야드에서 운송장비를 거쳐 선박으로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실을 컨테이너를 찾아 전달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591175"/>
                  </a:ext>
                </a:extLst>
              </a:tr>
            </a:tbl>
          </a:graphicData>
        </a:graphic>
      </p:graphicFrame>
      <p:sp>
        <p:nvSpPr>
          <p:cNvPr id="4" name="takeaway">
            <a:extLst>
              <a:ext uri="{FF2B5EF4-FFF2-40B4-BE49-F238E27FC236}">
                <a16:creationId xmlns:a16="http://schemas.microsoft.com/office/drawing/2014/main" id="{0AAF3A5A-945D-377E-ADF5-F503B9123F91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연구의 공유 작업 블록에서는 트럭 작업과 본선 연계 작업이 같은 크레인 시간을 사용한다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874D2FFC-75DE-8984-DDFE-2BF8168A3D83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9067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C601A7-FD72-63F4-A621-92F7DD2B0FE1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시간대와 블록에 따라 달라지는 혼잡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506717EB-9DB2-825E-A227-B0ECCFCE38B5}"/>
              </a:ext>
            </a:extLst>
          </p:cNvPr>
          <p:cNvSpPr txBox="1"/>
          <p:nvPr/>
        </p:nvSpPr>
        <p:spPr>
          <a:xfrm>
            <a:off x="609600" y="1676400"/>
            <a:ext cx="10972800" cy="316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도착이 특정 시간대에 몰리면 트럭의 대기열이 길어질 수 있다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터미널에서도 블록별 작업량과 크레인 여유가 다를 수 있다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 통지된 주문과 진행 중인 작업을 보며 기존 배정을 재검토할 필요가 있다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632BF99F-D0C3-6C63-D128-3B09553C42B4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 세운 계획과 작업을 실행하는 시점의 상황은 달라질 수 있다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ference-2">
            <a:extLst>
              <a:ext uri="{FF2B5EF4-FFF2-40B4-BE49-F238E27FC236}">
                <a16:creationId xmlns:a16="http://schemas.microsoft.com/office/drawing/2014/main" id="{F8D58F1B-4431-6693-3C73-CFB86DC74E6C}"/>
              </a:ext>
            </a:extLst>
          </p:cNvPr>
          <p:cNvSpPr txBox="1"/>
          <p:nvPr/>
        </p:nvSpPr>
        <p:spPr>
          <a:xfrm>
            <a:off x="609600" y="5753100"/>
            <a:ext cx="10795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[2] Managing truck arrivals with time windows to alleviate gate congestion at container terminals (2013)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reference-3">
            <a:extLst>
              <a:ext uri="{FF2B5EF4-FFF2-40B4-BE49-F238E27FC236}">
                <a16:creationId xmlns:a16="http://schemas.microsoft.com/office/drawing/2014/main" id="{BFCF0708-ED96-34E0-CB2A-CBEC72BE3A96}"/>
              </a:ext>
            </a:extLst>
          </p:cNvPr>
          <p:cNvSpPr txBox="1"/>
          <p:nvPr/>
        </p:nvSpPr>
        <p:spPr>
          <a:xfrm>
            <a:off x="609600" y="6210300"/>
            <a:ext cx="10795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[3] Negotiating truck arrival times among trucking companies and a container terminal (2015)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page">
            <a:extLst>
              <a:ext uri="{FF2B5EF4-FFF2-40B4-BE49-F238E27FC236}">
                <a16:creationId xmlns:a16="http://schemas.microsoft.com/office/drawing/2014/main" id="{DA6E7BCC-3101-A110-AD8B-B70BB94A26D2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348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F746D78-C725-90AB-693D-EF4614E104B9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조정할 두 종류의 결정</a:t>
            </a:r>
          </a:p>
        </p:txBody>
      </p:sp>
      <p:graphicFrame>
        <p:nvGraphicFramePr>
          <p:cNvPr id="3" name="content-table">
            <a:extLst>
              <a:ext uri="{FF2B5EF4-FFF2-40B4-BE49-F238E27FC236}">
                <a16:creationId xmlns:a16="http://schemas.microsoft.com/office/drawing/2014/main" id="{22B30070-30E2-B7BE-D850-315C74DFE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40869"/>
              </p:ext>
            </p:extLst>
          </p:nvPr>
        </p:nvGraphicFramePr>
        <p:xfrm>
          <a:off x="609600" y="1612900"/>
          <a:ext cx="109728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2485197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51126391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80440913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결정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8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v5</a:t>
                      </a:r>
                      <a:r>
                        <a:rPr lang="ko-KR" altLang="en-US" sz="18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선택하는 내용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948582"/>
                  </a:ext>
                </a:extLst>
              </a:tr>
              <a:tr h="13335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 재배정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어디서</a:t>
                      </a: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언제 처리할까</a:t>
                      </a: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  <a:endParaRPr lang="ko-KR" altLang="en-US" sz="185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배정 유지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반입 목적 블록 변경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예약시각 이연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8534"/>
                  </a:ext>
                </a:extLst>
              </a:tr>
              <a:tr h="13335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크레인 작업 배정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지금 어떤 일을 할까</a:t>
                      </a: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  <a:endParaRPr lang="ko-KR" altLang="en-US" sz="185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 수행</a:t>
                      </a: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 재취급</a:t>
                      </a:r>
                    </a:p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 이동</a:t>
                      </a: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493298"/>
                  </a:ext>
                </a:extLst>
              </a:tr>
            </a:tbl>
          </a:graphicData>
        </a:graphic>
      </p:graphicFrame>
      <p:sp>
        <p:nvSpPr>
          <p:cNvPr id="4" name="takeaway">
            <a:extLst>
              <a:ext uri="{FF2B5EF4-FFF2-40B4-BE49-F238E27FC236}">
                <a16:creationId xmlns:a16="http://schemas.microsoft.com/office/drawing/2014/main" id="{AB55B1B9-0A29-6DD2-C722-9C81CD2B901A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재배정은 도착할 작업의 위치와 시점을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크레인 배정은 실제 처리 순서를 바꾼다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BF7449FE-6485-00B8-7125-540DA029185F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7017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5334F23-54CD-9693-C581-952BAF5E52C8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재배정과 작업순서의 상호작용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B5DC5276-ECAA-9826-4190-D34BA23B8B3F}"/>
              </a:ext>
            </a:extLst>
          </p:cNvPr>
          <p:cNvSpPr txBox="1"/>
          <p:nvPr/>
        </p:nvSpPr>
        <p:spPr>
          <a:xfrm>
            <a:off x="609600" y="1676400"/>
            <a:ext cx="10972800" cy="316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반입 주문을 다른 블록으로 보내면 두 블록의 작업량이 함께 바뀐다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받는 블록의 본선 작업이 늘어난다면 현재의 여유만으로 효과를 판단하기 어렵다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크레인의 작업순서도 이후의 대기열과 재배정 판단에 영향을 준다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E06BC8FE-62FF-449B-796F-ADA285E2DC7F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결정의 효과를 보려면 그 뒤에 이어지는 작업 처리도 고려해야 한다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ference-5">
            <a:extLst>
              <a:ext uri="{FF2B5EF4-FFF2-40B4-BE49-F238E27FC236}">
                <a16:creationId xmlns:a16="http://schemas.microsoft.com/office/drawing/2014/main" id="{E238FE5F-443A-A898-F4B6-B073F031290E}"/>
              </a:ext>
            </a:extLst>
          </p:cNvPr>
          <p:cNvSpPr txBox="1"/>
          <p:nvPr/>
        </p:nvSpPr>
        <p:spPr>
          <a:xfrm>
            <a:off x="609600" y="5753100"/>
            <a:ext cx="10795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[5] Integrated optimization of truck appointment quotas and container relocations for multiple blocks considering transshipment containers handling (2024)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291806B8-4783-91ED-E334-23989D83DE64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8317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BDD87F-7222-2CEB-62FE-2BD98101FE2D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본선 작업과 트럭 작업의 우선순위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0A5BE382-6EE6-C072-A6C2-CA0DB3EAF8B7}"/>
              </a:ext>
            </a:extLst>
          </p:cNvPr>
          <p:cNvSpPr txBox="1"/>
          <p:nvPr/>
        </p:nvSpPr>
        <p:spPr>
          <a:xfrm>
            <a:off x="609600" y="1676400"/>
            <a:ext cx="10972800" cy="316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트럭을 먼저 처리하면 외부 트럭의 대기를 줄일 기회가 생긴다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본선 작업을 먼저 처리하면 선박 측의 공급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인계 지연을 줄일 수 있다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어느 쪽이 유리한지는 대기량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소요시간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 간 간섭에 따라 달라질 수 있다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9880955B-88C4-D3A6-E048-C575C70B7CEC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항상 같은 작업을 먼저 하는 규칙과 상황에 따라 선택하는 정책을 비교할 이유가 있다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ference-4">
            <a:extLst>
              <a:ext uri="{FF2B5EF4-FFF2-40B4-BE49-F238E27FC236}">
                <a16:creationId xmlns:a16="http://schemas.microsoft.com/office/drawing/2014/main" id="{74424AF1-73D2-45F7-94FD-80860FB913AF}"/>
              </a:ext>
            </a:extLst>
          </p:cNvPr>
          <p:cNvSpPr txBox="1"/>
          <p:nvPr/>
        </p:nvSpPr>
        <p:spPr>
          <a:xfrm>
            <a:off x="609600" y="5753100"/>
            <a:ext cx="10795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[4] Scheduling of Different Automated Yard Crane Systems at Container Terminals (2017)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E2436798-57FE-1D76-9937-FF176B60A188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825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3B4F727-02B0-9A1F-EA3F-486998347A1E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문제와 연결되는 기존 연구</a:t>
            </a:r>
          </a:p>
        </p:txBody>
      </p:sp>
      <p:graphicFrame>
        <p:nvGraphicFramePr>
          <p:cNvPr id="3" name="content-table">
            <a:extLst>
              <a:ext uri="{FF2B5EF4-FFF2-40B4-BE49-F238E27FC236}">
                <a16:creationId xmlns:a16="http://schemas.microsoft.com/office/drawing/2014/main" id="{6DD9C8F5-A00B-1984-A943-50EC7EE2A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569457"/>
              </p:ext>
            </p:extLst>
          </p:nvPr>
        </p:nvGraphicFramePr>
        <p:xfrm>
          <a:off x="609600" y="1612900"/>
          <a:ext cx="109728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2500">
                  <a:extLst>
                    <a:ext uri="{9D8B030D-6E8A-4147-A177-3AD203B41FA5}">
                      <a16:colId xmlns:a16="http://schemas.microsoft.com/office/drawing/2014/main" val="2946845108"/>
                    </a:ext>
                  </a:extLst>
                </a:gridCol>
                <a:gridCol w="6210300">
                  <a:extLst>
                    <a:ext uri="{9D8B030D-6E8A-4147-A177-3AD203B41FA5}">
                      <a16:colId xmlns:a16="http://schemas.microsoft.com/office/drawing/2014/main" val="179865604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주로 다룬 결정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37079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Chen </a:t>
                      </a: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(2013), Phan·Kim(2015)</a:t>
                      </a:r>
                      <a:endParaRPr lang="ko-KR" altLang="en-US" sz="185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트럭 도착 시간창과 도착시각 협의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64878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Speer·Fischer(2017)</a:t>
                      </a:r>
                      <a:endParaRPr lang="ko-KR" altLang="en-US" sz="185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이동과 간섭을 고려한 야드크레인 스케줄링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59021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Duan </a:t>
                      </a: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(2024)</a:t>
                      </a:r>
                      <a:endParaRPr lang="ko-KR" altLang="en-US" sz="185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예약 정원과 컨테이너 재취급</a:t>
                      </a: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야드 작업의 통합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08216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Wang </a:t>
                      </a: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(2026)</a:t>
                      </a:r>
                      <a:endParaRPr lang="ko-KR" altLang="en-US" sz="185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 블록 크레인 배정의 </a:t>
                      </a: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PPO </a:t>
                      </a: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공유 정책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640077"/>
                  </a:ext>
                </a:extLst>
              </a:tr>
            </a:tbl>
          </a:graphicData>
        </a:graphic>
      </p:graphicFrame>
      <p:sp>
        <p:nvSpPr>
          <p:cNvPr id="4" name="takeaway">
            <a:extLst>
              <a:ext uri="{FF2B5EF4-FFF2-40B4-BE49-F238E27FC236}">
                <a16:creationId xmlns:a16="http://schemas.microsoft.com/office/drawing/2014/main" id="{154046EA-A491-CF95-7373-CD83812F1B0C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최적화와 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PPO</a:t>
            </a: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이미 연구돼 왔다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연구는 다루는 결정 범위를 구체적으로 정한다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ference-2">
            <a:extLst>
              <a:ext uri="{FF2B5EF4-FFF2-40B4-BE49-F238E27FC236}">
                <a16:creationId xmlns:a16="http://schemas.microsoft.com/office/drawing/2014/main" id="{3698A797-6480-5B7A-9E6A-4689F5DC7DC9}"/>
              </a:ext>
            </a:extLst>
          </p:cNvPr>
          <p:cNvSpPr txBox="1"/>
          <p:nvPr/>
        </p:nvSpPr>
        <p:spPr>
          <a:xfrm>
            <a:off x="609600" y="5981700"/>
            <a:ext cx="3492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[2] Chen </a:t>
            </a:r>
            <a:r>
              <a:rPr lang="ko-KR" altLang="en-US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등 </a:t>
            </a: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(2013)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reference-3">
            <a:extLst>
              <a:ext uri="{FF2B5EF4-FFF2-40B4-BE49-F238E27FC236}">
                <a16:creationId xmlns:a16="http://schemas.microsoft.com/office/drawing/2014/main" id="{DE295F20-C39A-BB79-CA43-DE8124BBCE53}"/>
              </a:ext>
            </a:extLst>
          </p:cNvPr>
          <p:cNvSpPr txBox="1"/>
          <p:nvPr/>
        </p:nvSpPr>
        <p:spPr>
          <a:xfrm>
            <a:off x="4267200" y="5981700"/>
            <a:ext cx="3492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[3] Phan </a:t>
            </a:r>
            <a:r>
              <a:rPr lang="ko-KR" altLang="en-US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등 </a:t>
            </a: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(2015)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ference-4">
            <a:extLst>
              <a:ext uri="{FF2B5EF4-FFF2-40B4-BE49-F238E27FC236}">
                <a16:creationId xmlns:a16="http://schemas.microsoft.com/office/drawing/2014/main" id="{D1913B93-79A3-8E73-FD12-616858C8525D}"/>
              </a:ext>
            </a:extLst>
          </p:cNvPr>
          <p:cNvSpPr txBox="1"/>
          <p:nvPr/>
        </p:nvSpPr>
        <p:spPr>
          <a:xfrm>
            <a:off x="7924800" y="5981700"/>
            <a:ext cx="3492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[4] Speer </a:t>
            </a:r>
            <a:r>
              <a:rPr lang="ko-KR" altLang="en-US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등 </a:t>
            </a: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(2017)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ference-5">
            <a:extLst>
              <a:ext uri="{FF2B5EF4-FFF2-40B4-BE49-F238E27FC236}">
                <a16:creationId xmlns:a16="http://schemas.microsoft.com/office/drawing/2014/main" id="{48FE9A52-BBED-FB26-BF65-BEFD39E480AA}"/>
              </a:ext>
            </a:extLst>
          </p:cNvPr>
          <p:cNvSpPr txBox="1"/>
          <p:nvPr/>
        </p:nvSpPr>
        <p:spPr>
          <a:xfrm>
            <a:off x="609600" y="6299200"/>
            <a:ext cx="3492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6"/>
              </a:rPr>
              <a:t>[5] Duan </a:t>
            </a:r>
            <a:r>
              <a:rPr lang="ko-KR" altLang="en-US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6"/>
              </a:rPr>
              <a:t>등 </a:t>
            </a: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6"/>
              </a:rPr>
              <a:t>(2024)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ference-6">
            <a:extLst>
              <a:ext uri="{FF2B5EF4-FFF2-40B4-BE49-F238E27FC236}">
                <a16:creationId xmlns:a16="http://schemas.microsoft.com/office/drawing/2014/main" id="{57FF47C6-1BFE-8B46-BD97-8DDA55208EE1}"/>
              </a:ext>
            </a:extLst>
          </p:cNvPr>
          <p:cNvSpPr txBox="1"/>
          <p:nvPr/>
        </p:nvSpPr>
        <p:spPr>
          <a:xfrm>
            <a:off x="4267200" y="6299200"/>
            <a:ext cx="3492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7"/>
              </a:rPr>
              <a:t>[6] Wang </a:t>
            </a:r>
            <a:r>
              <a:rPr lang="ko-KR" altLang="en-US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7"/>
              </a:rPr>
              <a:t>등 </a:t>
            </a: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7"/>
              </a:rPr>
              <a:t>(2026)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page">
            <a:extLst>
              <a:ext uri="{FF2B5EF4-FFF2-40B4-BE49-F238E27FC236}">
                <a16:creationId xmlns:a16="http://schemas.microsoft.com/office/drawing/2014/main" id="{8BC61D93-7888-5419-302B-F2FEAF3E5953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4102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7145504-69FB-59DF-3736-758A63F1BB65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연구의 문제 정의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60185D9E-0699-07AA-2E72-1C09A133B97D}"/>
              </a:ext>
            </a:extLst>
          </p:cNvPr>
          <p:cNvSpPr txBox="1"/>
          <p:nvPr/>
        </p:nvSpPr>
        <p:spPr>
          <a:xfrm>
            <a:off x="609600" y="1676400"/>
            <a:ext cx="10972800" cy="316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 통지된 트럭 주문의 재배정과 블록 내부 크레인 작업 선택을 함께 다룬다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블록은 현재 상태와 허용된 후보를 이용하며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아직 발생하지 않은 실제 미래는 보지 않는다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연속 운영에서 쌓이는 총비용을 공통 기준으로 삼아 선택 방법을 학습한다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E2118BE0-0334-1653-3A8F-3DE9F5DB5F2F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 질문은 연결된 결정을 같은 목적 아래 학습했을 때 어떤 효과가 생기는가이다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ference-5">
            <a:extLst>
              <a:ext uri="{FF2B5EF4-FFF2-40B4-BE49-F238E27FC236}">
                <a16:creationId xmlns:a16="http://schemas.microsoft.com/office/drawing/2014/main" id="{D6626D1B-76E9-5925-6B71-0F0FABC8BD2C}"/>
              </a:ext>
            </a:extLst>
          </p:cNvPr>
          <p:cNvSpPr txBox="1"/>
          <p:nvPr/>
        </p:nvSpPr>
        <p:spPr>
          <a:xfrm>
            <a:off x="609600" y="5981700"/>
            <a:ext cx="3492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[5] Duan </a:t>
            </a:r>
            <a:r>
              <a:rPr lang="ko-KR" altLang="en-US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등 </a:t>
            </a: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(2024)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reference-6">
            <a:extLst>
              <a:ext uri="{FF2B5EF4-FFF2-40B4-BE49-F238E27FC236}">
                <a16:creationId xmlns:a16="http://schemas.microsoft.com/office/drawing/2014/main" id="{06E7EF7A-3BBC-086F-7CB9-A975A2B731F3}"/>
              </a:ext>
            </a:extLst>
          </p:cNvPr>
          <p:cNvSpPr txBox="1"/>
          <p:nvPr/>
        </p:nvSpPr>
        <p:spPr>
          <a:xfrm>
            <a:off x="4267200" y="5981700"/>
            <a:ext cx="3492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[6] Wang </a:t>
            </a:r>
            <a:r>
              <a:rPr lang="ko-KR" altLang="en-US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등 </a:t>
            </a: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(2026)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page">
            <a:extLst>
              <a:ext uri="{FF2B5EF4-FFF2-40B4-BE49-F238E27FC236}">
                <a16:creationId xmlns:a16="http://schemas.microsoft.com/office/drawing/2014/main" id="{553BDABF-498A-89AD-BA85-904796382E30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590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A1ED225-6E0D-348A-A5D1-67695D621EE6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v5</a:t>
            </a: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통합 블록 정책</a:t>
            </a:r>
          </a:p>
        </p:txBody>
      </p:sp>
      <p:graphicFrame>
        <p:nvGraphicFramePr>
          <p:cNvPr id="3" name="content-table">
            <a:extLst>
              <a:ext uri="{FF2B5EF4-FFF2-40B4-BE49-F238E27FC236}">
                <a16:creationId xmlns:a16="http://schemas.microsoft.com/office/drawing/2014/main" id="{C06E2BBC-A974-6132-63B9-F792E9F91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804770"/>
              </p:ext>
            </p:extLst>
          </p:nvPr>
        </p:nvGraphicFramePr>
        <p:xfrm>
          <a:off x="609600" y="1612900"/>
          <a:ext cx="109728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180106300"/>
                    </a:ext>
                  </a:extLst>
                </a:gridCol>
                <a:gridCol w="7162800">
                  <a:extLst>
                    <a:ext uri="{9D8B030D-6E8A-4147-A177-3AD203B41FA5}">
                      <a16:colId xmlns:a16="http://schemas.microsoft.com/office/drawing/2014/main" val="388418930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같은 정책이 맡는 역할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선택하는 내용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51537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재배정 제안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유지할지</a:t>
                      </a: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다른 블록</a:t>
                      </a:r>
                      <a:r>
                        <a:rPr lang="en-US" altLang="ko-KR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시간을 제안할지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408114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재배정 수락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제안을 받아들일지 거절할지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484566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크레인 작업 선택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가능한 작업 중 무엇을 할지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559497"/>
                  </a:ext>
                </a:extLst>
              </a:tr>
            </a:tbl>
          </a:graphicData>
        </a:graphic>
      </p:graphicFrame>
      <p:sp>
        <p:nvSpPr>
          <p:cNvPr id="4" name="takeaway">
            <a:extLst>
              <a:ext uri="{FF2B5EF4-FFF2-40B4-BE49-F238E27FC236}">
                <a16:creationId xmlns:a16="http://schemas.microsoft.com/office/drawing/2014/main" id="{C2D85A2F-41F9-07FB-D76E-71822C456F78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블록이 하나의 정책망을 공유한다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역할은 나누되 가중치는 함께 학습한다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E39D725C-ED40-1249-3E21-C36220D6C50E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3435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AE36ACE-7BDA-C05C-680A-B0B204D79660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경험으로 배우는 </a:t>
            </a:r>
            <a:r>
              <a:rPr lang="en-US" altLang="ko-KR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PPO</a:t>
            </a:r>
            <a:endParaRPr lang="ko-KR" altLang="en-US" sz="32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21AB7C39-9A8F-2E32-55CA-AD1065705AB4}"/>
              </a:ext>
            </a:extLst>
          </p:cNvPr>
          <p:cNvSpPr txBox="1"/>
          <p:nvPr/>
        </p:nvSpPr>
        <p:spPr>
          <a:xfrm>
            <a:off x="609600" y="1676400"/>
            <a:ext cx="10972800" cy="316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PPO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환경에서 고른 행동과 그 결과를 모아 정책을 조금씩 갱신하는 강화학습 방법이다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v5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하나의 연속 시뮬레이션에서 경험을 모으고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60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초마다 늘어난 비용을 학습 신호로 기록한다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선택마다 대안별 미래 세계를 따로 실행하는 반사실 교사는 사용하지 않는다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C3D309D4-1BC9-42E6-B0C9-97DB53014574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 늘어난 비용이 작아지는 방향으로 학습하며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긴 영향은 이후 경험과 가치 추정으로 다룬다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ference-7">
            <a:extLst>
              <a:ext uri="{FF2B5EF4-FFF2-40B4-BE49-F238E27FC236}">
                <a16:creationId xmlns:a16="http://schemas.microsoft.com/office/drawing/2014/main" id="{1B1D8A06-4DC3-2865-D7B4-5BFDFE2FF983}"/>
              </a:ext>
            </a:extLst>
          </p:cNvPr>
          <p:cNvSpPr txBox="1"/>
          <p:nvPr/>
        </p:nvSpPr>
        <p:spPr>
          <a:xfrm>
            <a:off x="609600" y="5753100"/>
            <a:ext cx="10795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[7] Proximal Policy Optimization Algorithms (2017)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558B7D6D-75B0-F46C-689B-90BA633596F4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1464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B34156B-DAB6-9BA3-58D4-98736AAFDA31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학습의 기대와 어려움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19B9A591-9297-C55C-0E10-9A7800E5F181}"/>
              </a:ext>
            </a:extLst>
          </p:cNvPr>
          <p:cNvSpPr txBox="1"/>
          <p:nvPr/>
        </p:nvSpPr>
        <p:spPr>
          <a:xfrm>
            <a:off x="609600" y="1676400"/>
            <a:ext cx="10972800" cy="316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비용을 사용하면 한 역할의 이익이 다른 작업의 손해로 이어지는 상황을 함께 평가할 수 있다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블록이 같은 보상을 받으면 어느 선택이 비용을 바꿨는지 구분하기 어려워질 수 있다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역할마다 필요한 정보와 결정 빈도가 달라 하나의 정책이 모두 잘 배울지는 확인해야 한다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9381B67A-2FE8-CD99-E19D-77C5E816AB39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구조의 성능과 학습 효과는 각각 비교를 통해 확인할 연구 대상이다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27B0ADD6-419F-89B8-36AC-4D66AE7FFC26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7474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8E7F067-93D0-DEB6-ECC1-BF1AA9D0F7FA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 목표와 비용의 범위</a:t>
            </a:r>
          </a:p>
        </p:txBody>
      </p:sp>
      <p:graphicFrame>
        <p:nvGraphicFramePr>
          <p:cNvPr id="3" name="content-table">
            <a:extLst>
              <a:ext uri="{FF2B5EF4-FFF2-40B4-BE49-F238E27FC236}">
                <a16:creationId xmlns:a16="http://schemas.microsoft.com/office/drawing/2014/main" id="{FA6ACC77-DCDA-6CC4-5132-4194A8179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849009"/>
              </p:ext>
            </p:extLst>
          </p:nvPr>
        </p:nvGraphicFramePr>
        <p:xfrm>
          <a:off x="609600" y="1612900"/>
          <a:ext cx="109728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4032402509"/>
                    </a:ext>
                  </a:extLst>
                </a:gridCol>
                <a:gridCol w="7035800">
                  <a:extLst>
                    <a:ext uri="{9D8B030D-6E8A-4147-A177-3AD203B41FA5}">
                      <a16:colId xmlns:a16="http://schemas.microsoft.com/office/drawing/2014/main" val="417839027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목적함수의 항목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무엇을 비용으로 보는가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54958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트럭 체류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게이트 진입부터 반출까지의 시간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21967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크레인 빈 이동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컨테이너를 싣지 않은 이동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952819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재취급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상자를 꺼내기 위한 추가 취급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510557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본선 유휴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85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본선 연계 흐름에서 집계하는 유휴</a:t>
                      </a:r>
                    </a:p>
                  </a:txBody>
                  <a:tcPr marL="127000" marR="101600" marT="63500" marB="63500" anchor="ctr">
                    <a:lnL w="6350" cmpd="sng">
                      <a:solidFill>
                        <a:srgbClr val="CFCFCF"/>
                      </a:solidFill>
                    </a:lnL>
                    <a:lnR w="6350" cmpd="sng">
                      <a:solidFill>
                        <a:srgbClr val="CFCFCF"/>
                      </a:solidFill>
                    </a:lnR>
                    <a:lnT w="6350" cmpd="sng">
                      <a:solidFill>
                        <a:srgbClr val="CFCFCF"/>
                      </a:solidFill>
                    </a:lnT>
                    <a:lnB w="6350" cmpd="sng">
                      <a:solidFill>
                        <a:srgbClr val="CFCFC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30228"/>
                  </a:ext>
                </a:extLst>
              </a:tr>
            </a:tbl>
          </a:graphicData>
        </a:graphic>
      </p:graphicFrame>
      <p:sp>
        <p:nvSpPr>
          <p:cNvPr id="4" name="takeaway">
            <a:extLst>
              <a:ext uri="{FF2B5EF4-FFF2-40B4-BE49-F238E27FC236}">
                <a16:creationId xmlns:a16="http://schemas.microsoft.com/office/drawing/2014/main" id="{EC1FFF13-D250-EBB6-B98F-0A2C4C0D75D2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비용식의 합계를 줄이는 것이 목표다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완료 여부와 본선 영향도 함께 확인한다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A70E4EDB-69B2-7201-E6FE-95143495C3C6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6328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D523BD-E85E-688B-501F-78E610C94142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서론에서 제시할 연구 질문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6539C444-4E81-8FA9-3005-67E8AF39806B}"/>
              </a:ext>
            </a:extLst>
          </p:cNvPr>
          <p:cNvSpPr txBox="1"/>
          <p:nvPr/>
        </p:nvSpPr>
        <p:spPr>
          <a:xfrm>
            <a:off x="609600" y="1676400"/>
            <a:ext cx="10972800" cy="316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학습한 통합 정책은 같은 주문을 처리하는 규칙 정책보다 현재 비용을 줄이는가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정책은 학습 전 정책보다 나아지는가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혼잡 수준에 따라 비용과 미완료 작업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본선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트럭의 영향은 어떻게 달라지는가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23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D7437DBA-DF9E-CE5F-8567-D6A234FC2B82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 전체의 차이와 학습으로 생긴 차이를 구분해서 해석한다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33694982-196E-A08B-BBC6-7AE72594CB33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396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69AFCB-9198-E755-90FD-772AB8CEEAA5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 범위와 해석의 한계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3C8756E4-A9C5-B909-9731-A618149AEBDB}"/>
              </a:ext>
            </a:extLst>
          </p:cNvPr>
          <p:cNvSpPr txBox="1"/>
          <p:nvPr/>
        </p:nvSpPr>
        <p:spPr>
          <a:xfrm>
            <a:off x="609600" y="1676400"/>
            <a:ext cx="10972800" cy="316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대상은 트럭 반출입과 본선 연계 작업이 함께 발생하는 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블록의 합성 터미널이다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주문은 지정 컨테이너와 연결한다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준비되지 않은 작업은 대기하며 물리 제약을 지켜야 한다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비용식과 입력 정보의 범위에서 검증한다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항만의 모든 계약 비용이나 운영 조건을 재현하지는 않는다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34E63B0E-E383-B7BE-260B-AB59C525BCE2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목표는 시뮬레이션 기반 방법론 검증이다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항만의 절감 효과는 별도 검증이 필요하다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5B263CCC-CAF0-F6B2-581E-1BFB77E3CD3F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1385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676B00E-AB0F-B6AA-F098-2C2E4BD829FC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기대하는 연구 기여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F91B327F-20AF-F279-1D8E-760146CC3242}"/>
              </a:ext>
            </a:extLst>
          </p:cNvPr>
          <p:cNvSpPr txBox="1"/>
          <p:nvPr/>
        </p:nvSpPr>
        <p:spPr>
          <a:xfrm>
            <a:off x="609600" y="1676400"/>
            <a:ext cx="10972800" cy="316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 재배정과 크레인 작업 선택을 공유 정책과 공통 비용으로 연결한다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대안별 미래 실행 없이 연속 운영 경험으로 학습하는 적용 방법을 검토한다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54000" indent="-254000">
              <a:lnSpc>
                <a:spcPct val="113000"/>
              </a:lnSpc>
              <a:spcAft>
                <a:spcPts val="2200"/>
              </a:spcAft>
              <a:buFont typeface="+mj-lt"/>
              <a:buChar char="•"/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 전체의 차이와 학습 전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 차이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미완료 작업을 나누어 설명한다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388A6651-55EB-DB67-DE04-2AA3714ECD95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기여는 설계와 검증 방법에서 출발하며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비용 절감의 크기는 실험으로 확인한다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ference-5">
            <a:extLst>
              <a:ext uri="{FF2B5EF4-FFF2-40B4-BE49-F238E27FC236}">
                <a16:creationId xmlns:a16="http://schemas.microsoft.com/office/drawing/2014/main" id="{EE22024C-C046-CE1F-9322-285F6500AA13}"/>
              </a:ext>
            </a:extLst>
          </p:cNvPr>
          <p:cNvSpPr txBox="1"/>
          <p:nvPr/>
        </p:nvSpPr>
        <p:spPr>
          <a:xfrm>
            <a:off x="609600" y="5981700"/>
            <a:ext cx="3492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[5] Duan </a:t>
            </a:r>
            <a:r>
              <a:rPr lang="ko-KR" altLang="en-US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등 </a:t>
            </a: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(2024)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reference-6">
            <a:extLst>
              <a:ext uri="{FF2B5EF4-FFF2-40B4-BE49-F238E27FC236}">
                <a16:creationId xmlns:a16="http://schemas.microsoft.com/office/drawing/2014/main" id="{28FD4E24-C6E7-351F-1B5D-D10E112D42B8}"/>
              </a:ext>
            </a:extLst>
          </p:cNvPr>
          <p:cNvSpPr txBox="1"/>
          <p:nvPr/>
        </p:nvSpPr>
        <p:spPr>
          <a:xfrm>
            <a:off x="4267200" y="5981700"/>
            <a:ext cx="3492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[6] Wang </a:t>
            </a:r>
            <a:r>
              <a:rPr lang="ko-KR" altLang="en-US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등 </a:t>
            </a: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(2026)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ference-7">
            <a:extLst>
              <a:ext uri="{FF2B5EF4-FFF2-40B4-BE49-F238E27FC236}">
                <a16:creationId xmlns:a16="http://schemas.microsoft.com/office/drawing/2014/main" id="{08E3D9BD-A503-399C-E094-25CDB610488A}"/>
              </a:ext>
            </a:extLst>
          </p:cNvPr>
          <p:cNvSpPr txBox="1"/>
          <p:nvPr/>
        </p:nvSpPr>
        <p:spPr>
          <a:xfrm>
            <a:off x="7924800" y="5981700"/>
            <a:ext cx="34925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[7] Schulman </a:t>
            </a:r>
            <a:r>
              <a:rPr lang="ko-KR" altLang="en-US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등 </a:t>
            </a: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(2017)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91D8BBD3-7DD1-70A9-BCEE-368A3316D218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3291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F12C306-1671-0D4E-A95C-D6FCBA6480C9}"/>
              </a:ext>
            </a:extLst>
          </p:cNvPr>
          <p:cNvSpPr txBox="1"/>
          <p:nvPr/>
        </p:nvSpPr>
        <p:spPr>
          <a:xfrm>
            <a:off x="609600" y="469900"/>
            <a:ext cx="10972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서론의 핵심 논리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91223035-E580-663B-D847-39477DE4D80E}"/>
              </a:ext>
            </a:extLst>
          </p:cNvPr>
          <p:cNvSpPr txBox="1"/>
          <p:nvPr/>
        </p:nvSpPr>
        <p:spPr>
          <a:xfrm>
            <a:off x="609600" y="1676400"/>
            <a:ext cx="10972800" cy="316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2200"/>
              </a:spcAft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컨테이너 터미널의 주문 배정과 크레인 작업 선택은 서로 영향을 준다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13000"/>
              </a:lnSpc>
              <a:spcAft>
                <a:spcPts val="2200"/>
              </a:spcAft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연구는 두 결정을 함께 학습하는 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PPO 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통합 블록 정책을 제안한다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13000"/>
              </a:lnSpc>
              <a:spcAft>
                <a:spcPts val="2200"/>
              </a:spcAft>
            </a:pP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비용 효과와 학습 효과를 구분하고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혼잡과 미완료 작업을 함께 검증한다</a:t>
            </a:r>
            <a:r>
              <a:rPr lang="en-US" altLang="ko-KR" sz="23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3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9B6E779A-28B9-A32B-BBC6-3A98EB3E3BF6}"/>
              </a:ext>
            </a:extLst>
          </p:cNvPr>
          <p:cNvSpPr txBox="1"/>
          <p:nvPr/>
        </p:nvSpPr>
        <p:spPr>
          <a:xfrm>
            <a:off x="609600" y="5067300"/>
            <a:ext cx="10972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문제 정의를 바탕으로 관련연구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방법론과 실험을 전개한다</a:t>
            </a:r>
            <a:r>
              <a:rPr lang="en-US" altLang="ko-KR" sz="20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365E0D98-1470-642B-BB39-F659758A9178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9450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93E72C9-2C44-9455-0052-09031ADFE2D5}"/>
              </a:ext>
            </a:extLst>
          </p:cNvPr>
          <p:cNvSpPr txBox="1"/>
          <p:nvPr/>
        </p:nvSpPr>
        <p:spPr>
          <a:xfrm>
            <a:off x="609600" y="469900"/>
            <a:ext cx="109728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참고문헌 </a:t>
            </a:r>
            <a:r>
              <a:rPr lang="en-US" altLang="ko-KR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32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bibliography-1">
            <a:extLst>
              <a:ext uri="{FF2B5EF4-FFF2-40B4-BE49-F238E27FC236}">
                <a16:creationId xmlns:a16="http://schemas.microsoft.com/office/drawing/2014/main" id="{92742A34-EFCB-31F6-D658-D11FA40A7968}"/>
              </a:ext>
            </a:extLst>
          </p:cNvPr>
          <p:cNvSpPr txBox="1"/>
          <p:nvPr/>
        </p:nvSpPr>
        <p:spPr>
          <a:xfrm>
            <a:off x="609600" y="1422400"/>
            <a:ext cx="10972800" cy="1181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[1] Yen, B. T. H., Huang, M. J., Lai, H. J., Cho, H. H., &amp; Huang, Y. L. (2023).</a:t>
            </a:r>
          </a:p>
          <a:p>
            <a:pPr>
              <a:spcAft>
                <a:spcPts val="100"/>
              </a:spcAft>
            </a:pPr>
            <a:r>
              <a:rPr lang="en-US" altLang="ko-KR" sz="16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How smart port design influences port efficiency: A DEA-Tobit approach.</a:t>
            </a:r>
          </a:p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Research in Transportation Business &amp; Management, 46, 100862.</a:t>
            </a:r>
          </a:p>
          <a:p>
            <a:pPr>
              <a:spcAft>
                <a:spcPts val="1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https://doi.org/10.1016/j.rtbm.2022.100862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bibliography-2">
            <a:extLst>
              <a:ext uri="{FF2B5EF4-FFF2-40B4-BE49-F238E27FC236}">
                <a16:creationId xmlns:a16="http://schemas.microsoft.com/office/drawing/2014/main" id="{4E61724B-899E-198C-651A-CBF348396A4B}"/>
              </a:ext>
            </a:extLst>
          </p:cNvPr>
          <p:cNvSpPr txBox="1"/>
          <p:nvPr/>
        </p:nvSpPr>
        <p:spPr>
          <a:xfrm>
            <a:off x="609600" y="2679700"/>
            <a:ext cx="10972800" cy="1181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[2] Chen, G., Govindan, K., &amp; Yang, Z. (2013).</a:t>
            </a:r>
          </a:p>
          <a:p>
            <a:pPr>
              <a:spcAft>
                <a:spcPts val="100"/>
              </a:spcAft>
            </a:pPr>
            <a:r>
              <a:rPr lang="en-US" altLang="ko-KR" sz="16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Managing truck arrivals with time windows to alleviate gate congestion at container terminals.</a:t>
            </a:r>
          </a:p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International Journal of Production Economics, 141(1), 179–188.</a:t>
            </a:r>
          </a:p>
          <a:p>
            <a:pPr>
              <a:spcAft>
                <a:spcPts val="1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https://doi.org/10.1016/j.ijpe.2012.03.033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bibliography-3">
            <a:extLst>
              <a:ext uri="{FF2B5EF4-FFF2-40B4-BE49-F238E27FC236}">
                <a16:creationId xmlns:a16="http://schemas.microsoft.com/office/drawing/2014/main" id="{FE6E2BC6-EE7B-8546-7429-0D58BB3084A5}"/>
              </a:ext>
            </a:extLst>
          </p:cNvPr>
          <p:cNvSpPr txBox="1"/>
          <p:nvPr/>
        </p:nvSpPr>
        <p:spPr>
          <a:xfrm>
            <a:off x="609600" y="3937000"/>
            <a:ext cx="10972800" cy="1181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[3] Phan, M.-H., &amp; Kim, K. H. (2015).</a:t>
            </a:r>
          </a:p>
          <a:p>
            <a:pPr>
              <a:spcAft>
                <a:spcPts val="100"/>
              </a:spcAft>
            </a:pPr>
            <a:r>
              <a:rPr lang="en-US" altLang="ko-KR" sz="16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Negotiating truck arrival times among trucking companies and a container terminal.</a:t>
            </a:r>
          </a:p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Transportation Research Part E, 75, 132–144.</a:t>
            </a:r>
          </a:p>
          <a:p>
            <a:pPr>
              <a:spcAft>
                <a:spcPts val="1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https://doi.org/10.1016/j.tre.2015.01.004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bibliography-4">
            <a:extLst>
              <a:ext uri="{FF2B5EF4-FFF2-40B4-BE49-F238E27FC236}">
                <a16:creationId xmlns:a16="http://schemas.microsoft.com/office/drawing/2014/main" id="{78CC5DBA-4823-AE62-9F6B-E72758FB2A73}"/>
              </a:ext>
            </a:extLst>
          </p:cNvPr>
          <p:cNvSpPr txBox="1"/>
          <p:nvPr/>
        </p:nvSpPr>
        <p:spPr>
          <a:xfrm>
            <a:off x="609600" y="5194300"/>
            <a:ext cx="10972800" cy="1181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[4] Speer, U., &amp; Fischer, K. (2017).</a:t>
            </a:r>
          </a:p>
          <a:p>
            <a:pPr>
              <a:spcAft>
                <a:spcPts val="100"/>
              </a:spcAft>
            </a:pPr>
            <a:r>
              <a:rPr lang="en-US" altLang="ko-KR" sz="16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Scheduling of Different Automated Yard Crane Systems at Container Terminals.</a:t>
            </a:r>
          </a:p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Transportation Science, 51(1), 305–324.</a:t>
            </a:r>
          </a:p>
          <a:p>
            <a:pPr>
              <a:spcAft>
                <a:spcPts val="1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6"/>
              </a:rPr>
              <a:t>https://doi.org/10.1287/trsc.2016.0687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page">
            <a:extLst>
              <a:ext uri="{FF2B5EF4-FFF2-40B4-BE49-F238E27FC236}">
                <a16:creationId xmlns:a16="http://schemas.microsoft.com/office/drawing/2014/main" id="{96991F58-ED62-6C83-37D8-ECA2CD965804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3181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92238B8-0117-C7D1-6600-0CD5960188FB}"/>
              </a:ext>
            </a:extLst>
          </p:cNvPr>
          <p:cNvSpPr txBox="1"/>
          <p:nvPr/>
        </p:nvSpPr>
        <p:spPr>
          <a:xfrm>
            <a:off x="609600" y="469900"/>
            <a:ext cx="109728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ko-KR" altLang="en-US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참고문헌 </a:t>
            </a:r>
            <a:r>
              <a:rPr lang="en-US" altLang="ko-KR" sz="3200" b="1">
                <a:solidFill>
                  <a:srgbClr val="1C34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3200" b="1">
              <a:solidFill>
                <a:srgbClr val="1C344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bibliography-5">
            <a:extLst>
              <a:ext uri="{FF2B5EF4-FFF2-40B4-BE49-F238E27FC236}">
                <a16:creationId xmlns:a16="http://schemas.microsoft.com/office/drawing/2014/main" id="{A06E97C9-2682-46BE-87FB-F2F5F9247AC8}"/>
              </a:ext>
            </a:extLst>
          </p:cNvPr>
          <p:cNvSpPr txBox="1"/>
          <p:nvPr/>
        </p:nvSpPr>
        <p:spPr>
          <a:xfrm>
            <a:off x="609600" y="1422400"/>
            <a:ext cx="10972800" cy="158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[5] Duan, S., Zheng, H.-X., &amp; Wang, Z.-Y. (2024).</a:t>
            </a:r>
          </a:p>
          <a:p>
            <a:pPr>
              <a:spcAft>
                <a:spcPts val="100"/>
              </a:spcAft>
            </a:pPr>
            <a:r>
              <a:rPr lang="en-US" altLang="ko-KR" sz="16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Integrated optimization of truck appointment quotas and container relocations for multiple blocks considering transshipment containers handling.</a:t>
            </a:r>
          </a:p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Advanced Engineering Informatics, 62, 102668.</a:t>
            </a:r>
          </a:p>
          <a:p>
            <a:pPr>
              <a:spcAft>
                <a:spcPts val="1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https://doi.org/10.1016/j.aei.2024.102668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bibliography-6">
            <a:extLst>
              <a:ext uri="{FF2B5EF4-FFF2-40B4-BE49-F238E27FC236}">
                <a16:creationId xmlns:a16="http://schemas.microsoft.com/office/drawing/2014/main" id="{988A1F16-2DE6-2437-9CA6-AA83869181EE}"/>
              </a:ext>
            </a:extLst>
          </p:cNvPr>
          <p:cNvSpPr txBox="1"/>
          <p:nvPr/>
        </p:nvSpPr>
        <p:spPr>
          <a:xfrm>
            <a:off x="609600" y="3086100"/>
            <a:ext cx="10972800" cy="158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[6] Wang, W., Liu, H., Peng, Y., Cao, Z., Yu, P., &amp; Lu, Z. (2026).</a:t>
            </a:r>
          </a:p>
          <a:p>
            <a:pPr>
              <a:spcAft>
                <a:spcPts val="100"/>
              </a:spcAft>
            </a:pPr>
            <a:r>
              <a:rPr lang="en-US" altLang="ko-KR" sz="16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Yard crane real-time scheduling among multi-block at terminal: A reinforcement learning based proximal policy optimization approach.</a:t>
            </a:r>
          </a:p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Transportation Research Part E, 207, 104635.</a:t>
            </a:r>
          </a:p>
          <a:p>
            <a:pPr>
              <a:spcAft>
                <a:spcPts val="1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https://doi.org/10.1016/j.tre.2025.104635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bibliography-7">
            <a:extLst>
              <a:ext uri="{FF2B5EF4-FFF2-40B4-BE49-F238E27FC236}">
                <a16:creationId xmlns:a16="http://schemas.microsoft.com/office/drawing/2014/main" id="{5B71F90D-FBC8-7DF7-2BB5-6A399A6EC726}"/>
              </a:ext>
            </a:extLst>
          </p:cNvPr>
          <p:cNvSpPr txBox="1"/>
          <p:nvPr/>
        </p:nvSpPr>
        <p:spPr>
          <a:xfrm>
            <a:off x="609600" y="4749800"/>
            <a:ext cx="10972800" cy="158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[7] Schulman, J., Wolski, F., Dhariwal, P., Radford, A., &amp; Klimov, O. (2017).</a:t>
            </a:r>
          </a:p>
          <a:p>
            <a:pPr>
              <a:spcAft>
                <a:spcPts val="100"/>
              </a:spcAft>
            </a:pPr>
            <a:r>
              <a:rPr lang="en-US" altLang="ko-KR" sz="16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Proximal Policy Optimization Algorithms.</a:t>
            </a:r>
          </a:p>
          <a:p>
            <a:pPr>
              <a:spcAft>
                <a:spcPts val="100"/>
              </a:spcAft>
            </a:pPr>
            <a:r>
              <a:rPr lang="en-US" altLang="ko-KR" sz="145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arXiv:1707.06347.</a:t>
            </a:r>
          </a:p>
          <a:p>
            <a:pPr>
              <a:spcAft>
                <a:spcPts val="100"/>
              </a:spcAft>
            </a:pPr>
            <a:r>
              <a:rPr lang="en-US" altLang="ko-KR" sz="12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5"/>
              </a:rPr>
              <a:t>https://arxiv.org/abs/1707.06347</a:t>
            </a:r>
            <a:endParaRPr lang="ko-KR" altLang="en-US" sz="12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E12CBA33-8765-E05D-37D3-BC0193FD5979}"/>
              </a:ext>
            </a:extLst>
          </p:cNvPr>
          <p:cNvSpPr txBox="1"/>
          <p:nvPr/>
        </p:nvSpPr>
        <p:spPr>
          <a:xfrm>
            <a:off x="11696700" y="6515100"/>
            <a:ext cx="330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</a:pPr>
            <a:r>
              <a:rPr lang="en-US" altLang="ko-KR" sz="105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r>
            <a:endParaRPr lang="ko-KR" altLang="en-US" sz="105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7427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4819</Words>
  <Application>Microsoft Office PowerPoint</Application>
  <PresentationFormat>와이드스크린</PresentationFormat>
  <Paragraphs>344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김건우</dc:creator>
  <cp:lastModifiedBy>김건우</cp:lastModifiedBy>
  <cp:revision>1</cp:revision>
  <dcterms:created xsi:type="dcterms:W3CDTF">2026-09-13T23:28:01Z</dcterms:created>
  <dcterms:modified xsi:type="dcterms:W3CDTF">2026-09-13T23:28:03Z</dcterms:modified>
</cp:coreProperties>
</file>